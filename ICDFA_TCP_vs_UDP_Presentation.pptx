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4554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I'm [your name], registration number [your reg. number], from TEAM-08. My part covers TCP versus UDP, application examples, one communication failure and the troubleshooting procedure.
TCP and UDP both work at the Transport layer. TCP is connection-oriented: it does a three-way handshake, acknowledges data, retransmits losses and keeps order, so it has a larger header and more overhead. UDP is connectionless with just an eight-byte header and no guarantees, so it is fast and light.
Both appear in my capture of opening x.com. The DNS query went out as one UDP datagram from port 57452 to port 53, length 31 bytes. Then the web session used TCP port 443: SYN, SYN-ACK, ACK and the TLS Client Hello. Wireshark shows about 58 percent of packets were TCP and about 3 percent UDP DNS.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protocol by what the application can tolerate. TCP suits reliability-first applications: secure web browsing on port 443, email, file transfer and remote access like SSH, because a lost byte can corrupt a file or a command. UDP suits speed-first applications: DNS lookups on port 53, video meetings and VoIP, live streaming and gaming, plus DHCP and NTP. There, a late packet is useless, so skipping it is better than waiting. Our own website visit used both.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failure is a DNS problem. I set the DNS server to 192.0.2.1, an address where nothing answers. The website would not open and the tools reported could not resolve host. In Wireshark the PC keeps repeating DNS queries with no reply. This shows the UDP trade-off: no built-in retransmission, so the application has to retry. The key clue is that pinging 8.8.8.8 still worked, so the network was fine and only name resolution was broken. I also tested port 444: the SYN was retransmitted four times with no answer, which points to a firewall blocking that port.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method is bottom-up. One, record the symptom. Two, ping 8.8.8.8: it works, so the internet layer is fine. Three, nslookup fails, so the fault is name resolution. Four, ipconfig shows the wrong DNS server. Five, Wireshark confirms queries with no replies. Six, reset DNS to the router, flush the cache and verify every layer: the gateway, 8.8.8.8, nslookup, port 443, tracert with eight hops, and curl returning HTTP 200 OK.
In summary, TCP gives reliability, UDP gives speed, and a DNS fault can look like a total outage while IP and TCP are healthy. Thank you,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DCE8F4"/>
          </a:solidFill>
          <a:ln w="12700">
            <a:solidFill>
              <a:srgbClr val="DCE8F4"/>
            </a:solidFill>
            <a:prstDash val="solid"/>
          </a:ln>
        </p:spPr>
        <p:txBody>
          <a:bodyPr/>
          <a:lstStyle/>
          <a:p>
            <a:endParaRPr lang="en-US"/>
          </a:p>
        </p:txBody>
      </p:sp>
      <p:sp>
        <p:nvSpPr>
          <p:cNvPr id="3" name="Text 1"/>
          <p:cNvSpPr txBox="1"/>
          <p:nvPr/>
        </p:nvSpPr>
        <p:spPr>
          <a:xfrm>
            <a:off x="457200" y="320040"/>
            <a:ext cx="548640" cy="548640"/>
          </a:xfrm>
          <a:prstGeom prst="rect">
            <a:avLst/>
          </a:prstGeom>
          <a:noFill/>
          <a:ln/>
        </p:spPr>
        <p:txBody>
          <a:bodyPr wrap="square" lIns="0" tIns="0" rIns="0" bIns="0" rtlCol="0" anchor="ctr"/>
          <a:lstStyle/>
          <a:p>
            <a:pPr marL="0" indent="0" algn="ctr">
              <a:buNone/>
            </a:pPr>
            <a:r>
              <a:rPr lang="en-US" sz="1600" b="1" dirty="0">
                <a:solidFill>
                  <a:srgbClr val="1F3A5F"/>
                </a:solidFill>
                <a:latin typeface="Calibri" pitchFamily="34" charset="0"/>
                <a:ea typeface="Calibri" pitchFamily="34" charset="-122"/>
                <a:cs typeface="Calibri" pitchFamily="34" charset="-120"/>
              </a:rPr>
              <a:t>01</a:t>
            </a:r>
            <a:endParaRPr lang="en-US" sz="1600" dirty="0"/>
          </a:p>
        </p:txBody>
      </p:sp>
      <p:sp>
        <p:nvSpPr>
          <p:cNvPr id="4" name="Text 2"/>
          <p:cNvSpPr txBox="1"/>
          <p:nvPr/>
        </p:nvSpPr>
        <p:spPr>
          <a:xfrm>
            <a:off x="1188720" y="274320"/>
            <a:ext cx="7498080" cy="457200"/>
          </a:xfrm>
          <a:prstGeom prst="rect">
            <a:avLst/>
          </a:prstGeom>
          <a:noFill/>
          <a:ln/>
        </p:spPr>
        <p:txBody>
          <a:bodyPr wrap="square" lIns="0" tIns="0" rIns="0" bIns="0" rtlCol="0" anchor="ctr"/>
          <a:lstStyle/>
          <a:p>
            <a:pPr marL="0" indent="0">
              <a:buNone/>
            </a:pPr>
            <a:r>
              <a:rPr lang="en-US" sz="2800" b="1" dirty="0">
                <a:solidFill>
                  <a:srgbClr val="1F3A5F"/>
                </a:solidFill>
                <a:latin typeface="Calibri" pitchFamily="34" charset="0"/>
                <a:ea typeface="Calibri" pitchFamily="34" charset="-122"/>
                <a:cs typeface="Calibri" pitchFamily="34" charset="-120"/>
              </a:rPr>
              <a:t>TCP vs UDP</a:t>
            </a:r>
            <a:endParaRPr lang="en-US" sz="2800" dirty="0"/>
          </a:p>
        </p:txBody>
      </p:sp>
      <p:sp>
        <p:nvSpPr>
          <p:cNvPr id="5" name="Text 3"/>
          <p:cNvSpPr txBox="1"/>
          <p:nvPr/>
        </p:nvSpPr>
        <p:spPr>
          <a:xfrm>
            <a:off x="1188720" y="713232"/>
            <a:ext cx="7498080" cy="274320"/>
          </a:xfrm>
          <a:prstGeom prst="rect">
            <a:avLst/>
          </a:prstGeom>
          <a:noFill/>
          <a:ln/>
        </p:spPr>
        <p:txBody>
          <a:bodyPr wrap="square" lIns="0" tIns="0" rIns="0" bIns="0" rtlCol="0" anchor="ctr"/>
          <a:lstStyle/>
          <a:p>
            <a:pPr marL="0" indent="0">
              <a:buNone/>
            </a:pPr>
            <a:r>
              <a:rPr lang="en-US" sz="1400" dirty="0">
                <a:solidFill>
                  <a:srgbClr val="3F7CAC"/>
                </a:solidFill>
                <a:latin typeface="Calibri" pitchFamily="34" charset="0"/>
                <a:ea typeface="Calibri" pitchFamily="34" charset="-122"/>
                <a:cs typeface="Calibri" pitchFamily="34" charset="-120"/>
              </a:rPr>
              <a:t>Two transport protocols, both seen in one secure website visit</a:t>
            </a:r>
            <a:endParaRPr lang="en-US" sz="14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rgbClr val="7A8CA3"/>
                </a:solidFill>
                <a:latin typeface="Calibri" pitchFamily="34" charset="0"/>
                <a:ea typeface="Calibri" pitchFamily="34" charset="-122"/>
                <a:cs typeface="Calibri" pitchFamily="34" charset="-120"/>
              </a:rPr>
              <a:t>TEAM-08  |  TCP IP Communication in Action</a:t>
            </a:r>
            <a:endParaRPr lang="en-US" sz="1000" dirty="0"/>
          </a:p>
        </p:txBody>
      </p:sp>
      <p:sp>
        <p:nvSpPr>
          <p:cNvPr id="7" name="Text 5"/>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1000" dirty="0">
                <a:solidFill>
                  <a:srgbClr val="7A8CA3"/>
                </a:solidFill>
                <a:latin typeface="Calibri" pitchFamily="34" charset="0"/>
                <a:ea typeface="Calibri" pitchFamily="34" charset="-122"/>
                <a:cs typeface="Calibri" pitchFamily="34" charset="-120"/>
              </a:rPr>
              <a:t>01 / 04</a:t>
            </a:r>
            <a:endParaRPr lang="en-US" sz="1000" dirty="0"/>
          </a:p>
        </p:txBody>
      </p:sp>
      <p:sp>
        <p:nvSpPr>
          <p:cNvPr id="8" name="Text 6"/>
          <p:cNvSpPr txBox="1"/>
          <p:nvPr/>
        </p:nvSpPr>
        <p:spPr>
          <a:xfrm>
            <a:off x="1188720" y="1028700"/>
            <a:ext cx="7498080" cy="274320"/>
          </a:xfrm>
          <a:prstGeom prst="rect">
            <a:avLst/>
          </a:prstGeom>
          <a:noFill/>
          <a:ln/>
        </p:spPr>
        <p:txBody>
          <a:bodyPr wrap="square" lIns="0" tIns="0" rIns="0" bIns="0" rtlCol="0" anchor="ctr"/>
          <a:lstStyle/>
          <a:p>
            <a:r>
              <a:rPr lang="en-US" sz="1200" b="1" dirty="0">
                <a:solidFill>
                  <a:srgbClr val="B00020"/>
                </a:solidFill>
                <a:highlight>
                  <a:srgbClr val="FFF3C4"/>
                </a:highlight>
                <a:latin typeface="Calibri" pitchFamily="34" charset="0"/>
                <a:ea typeface="Calibri" pitchFamily="34" charset="-122"/>
                <a:cs typeface="Calibri" pitchFamily="34" charset="-120"/>
              </a:rPr>
              <a:t>Samina Parveen</a:t>
            </a:r>
            <a:r>
              <a:rPr lang="en-US" sz="1200">
                <a:solidFill>
                  <a:srgbClr val="44546A"/>
                </a:solidFill>
                <a:latin typeface="Calibri" pitchFamily="34" charset="0"/>
                <a:ea typeface="Calibri" pitchFamily="34" charset="-122"/>
                <a:cs typeface="Calibri" pitchFamily="34" charset="-120"/>
              </a:rPr>
              <a:t>|   </a:t>
            </a:r>
            <a:r>
              <a:rPr lang="en-US" sz="1200" b="1">
                <a:solidFill>
                  <a:srgbClr val="B00020"/>
                </a:solidFill>
                <a:highlight>
                  <a:srgbClr val="FFF3C4"/>
                </a:highlight>
                <a:latin typeface="Calibri" pitchFamily="34" charset="0"/>
                <a:ea typeface="Calibri" pitchFamily="34" charset="-122"/>
                <a:cs typeface="Calibri" pitchFamily="34" charset="-120"/>
              </a:rPr>
              <a:t>C11/26/FCDF/17139</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4846320" cy="2880360"/>
        </p:xfrm>
        <a:graphic>
          <a:graphicData uri="http://schemas.openxmlformats.org/drawingml/2006/table">
            <a:tbl>
              <a:tblPr/>
              <a:tblGrid>
                <a:gridCol w="1280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Feature</a:t>
                      </a:r>
                      <a:endParaRPr lang="en-US" sz="13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3F7CAC"/>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TCP</a:t>
                      </a:r>
                      <a:endParaRPr lang="en-US" sz="13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3F7CAC"/>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UDP</a:t>
                      </a:r>
                      <a:endParaRPr lang="en-US" sz="13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3F7CAC"/>
                    </a:solidFill>
                  </a:tcPr>
                </a:tc>
                <a:extLst>
                  <a:ext uri="{0D108BD9-81ED-4DB2-BD59-A6C34878D82A}">
                    <a16:rowId xmlns:a16="http://schemas.microsoft.com/office/drawing/2014/main" val="10000"/>
                  </a:ext>
                </a:extLst>
              </a:tr>
              <a:tr h="411480">
                <a:tc>
                  <a:txBody>
                    <a:bodyPr/>
                    <a:lstStyle/>
                    <a:p>
                      <a:pPr marL="0" indent="0">
                        <a:buNone/>
                      </a:pPr>
                      <a:r>
                        <a:rPr lang="en-US" sz="1200" b="1" dirty="0">
                          <a:solidFill>
                            <a:srgbClr val="1F3A5F"/>
                          </a:solidFill>
                          <a:latin typeface="Calibri" pitchFamily="34" charset="0"/>
                          <a:ea typeface="Calibri" pitchFamily="34" charset="-122"/>
                          <a:cs typeface="Calibri" pitchFamily="34" charset="-120"/>
                        </a:rPr>
                        <a:t>Connection</a:t>
                      </a:r>
                      <a:endParaRPr lang="en-US" sz="12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FFFFFF"/>
                    </a:solidFill>
                  </a:tcPr>
                </a:tc>
                <a:tc>
                  <a:txBody>
                    <a:bodyPr/>
                    <a:lstStyle/>
                    <a:p>
                      <a:pPr marL="0" indent="0">
                        <a:buNone/>
                      </a:pPr>
                      <a:r>
                        <a:rPr lang="en-US" sz="1200" dirty="0">
                          <a:solidFill>
                            <a:srgbClr val="44546A"/>
                          </a:solidFill>
                          <a:latin typeface="Calibri" pitchFamily="34" charset="0"/>
                          <a:ea typeface="Calibri" pitchFamily="34" charset="-122"/>
                          <a:cs typeface="Calibri" pitchFamily="34" charset="-120"/>
                        </a:rPr>
                        <a:t>Handshake first</a:t>
                      </a:r>
                      <a:endParaRPr lang="en-US" sz="12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FFFFFF"/>
                    </a:solidFill>
                  </a:tcPr>
                </a:tc>
                <a:tc>
                  <a:txBody>
                    <a:bodyPr/>
                    <a:lstStyle/>
                    <a:p>
                      <a:pPr marL="0" indent="0">
                        <a:buNone/>
                      </a:pPr>
                      <a:r>
                        <a:rPr lang="en-US" sz="1200" dirty="0">
                          <a:solidFill>
                            <a:srgbClr val="44546A"/>
                          </a:solidFill>
                          <a:latin typeface="Calibri" pitchFamily="34" charset="0"/>
                          <a:ea typeface="Calibri" pitchFamily="34" charset="-122"/>
                          <a:cs typeface="Calibri" pitchFamily="34" charset="-120"/>
                        </a:rPr>
                        <a:t>None, sends at once</a:t>
                      </a:r>
                      <a:endParaRPr lang="en-US" sz="12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200" b="1" dirty="0">
                          <a:solidFill>
                            <a:srgbClr val="1F3A5F"/>
                          </a:solidFill>
                          <a:latin typeface="Calibri" pitchFamily="34" charset="0"/>
                          <a:ea typeface="Calibri" pitchFamily="34" charset="-122"/>
                          <a:cs typeface="Calibri" pitchFamily="34" charset="-120"/>
                        </a:rPr>
                        <a:t>Reliability</a:t>
                      </a:r>
                      <a:endParaRPr lang="en-US" sz="12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FFFFFF"/>
                    </a:solidFill>
                  </a:tcPr>
                </a:tc>
                <a:tc>
                  <a:txBody>
                    <a:bodyPr/>
                    <a:lstStyle/>
                    <a:p>
                      <a:pPr marL="0" indent="0">
                        <a:buNone/>
                      </a:pPr>
                      <a:r>
                        <a:rPr lang="en-US" sz="1200" dirty="0">
                          <a:solidFill>
                            <a:srgbClr val="44546A"/>
                          </a:solidFill>
                          <a:latin typeface="Calibri" pitchFamily="34" charset="0"/>
                          <a:ea typeface="Calibri" pitchFamily="34" charset="-122"/>
                          <a:cs typeface="Calibri" pitchFamily="34" charset="-120"/>
                        </a:rPr>
                        <a:t>ACKs + retransmission</a:t>
                      </a:r>
                      <a:endParaRPr lang="en-US" sz="12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FFFFFF"/>
                    </a:solidFill>
                  </a:tcPr>
                </a:tc>
                <a:tc>
                  <a:txBody>
                    <a:bodyPr/>
                    <a:lstStyle/>
                    <a:p>
                      <a:pPr marL="0" indent="0">
                        <a:buNone/>
                      </a:pPr>
                      <a:r>
                        <a:rPr lang="en-US" sz="1200" dirty="0">
                          <a:solidFill>
                            <a:srgbClr val="44546A"/>
                          </a:solidFill>
                          <a:latin typeface="Calibri" pitchFamily="34" charset="0"/>
                          <a:ea typeface="Calibri" pitchFamily="34" charset="-122"/>
                          <a:cs typeface="Calibri" pitchFamily="34" charset="-120"/>
                        </a:rPr>
                        <a:t>No guarantee</a:t>
                      </a:r>
                      <a:endParaRPr lang="en-US" sz="12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200" b="1" dirty="0">
                          <a:solidFill>
                            <a:srgbClr val="1F3A5F"/>
                          </a:solidFill>
                          <a:latin typeface="Calibri" pitchFamily="34" charset="0"/>
                          <a:ea typeface="Calibri" pitchFamily="34" charset="-122"/>
                          <a:cs typeface="Calibri" pitchFamily="34" charset="-120"/>
                        </a:rPr>
                        <a:t>Ordering</a:t>
                      </a:r>
                      <a:endParaRPr lang="en-US" sz="12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FFFFFF"/>
                    </a:solidFill>
                  </a:tcPr>
                </a:tc>
                <a:tc>
                  <a:txBody>
                    <a:bodyPr/>
                    <a:lstStyle/>
                    <a:p>
                      <a:pPr marL="0" indent="0">
                        <a:buNone/>
                      </a:pPr>
                      <a:r>
                        <a:rPr lang="en-US" sz="1200" dirty="0">
                          <a:solidFill>
                            <a:srgbClr val="44546A"/>
                          </a:solidFill>
                          <a:latin typeface="Calibri" pitchFamily="34" charset="0"/>
                          <a:ea typeface="Calibri" pitchFamily="34" charset="-122"/>
                          <a:cs typeface="Calibri" pitchFamily="34" charset="-120"/>
                        </a:rPr>
                        <a:t>Sequence numbers</a:t>
                      </a:r>
                      <a:endParaRPr lang="en-US" sz="12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FFFFFF"/>
                    </a:solidFill>
                  </a:tcPr>
                </a:tc>
                <a:tc>
                  <a:txBody>
                    <a:bodyPr/>
                    <a:lstStyle/>
                    <a:p>
                      <a:pPr marL="0" indent="0">
                        <a:buNone/>
                      </a:pPr>
                      <a:r>
                        <a:rPr lang="en-US" sz="1200" dirty="0">
                          <a:solidFill>
                            <a:srgbClr val="44546A"/>
                          </a:solidFill>
                          <a:latin typeface="Calibri" pitchFamily="34" charset="0"/>
                          <a:ea typeface="Calibri" pitchFamily="34" charset="-122"/>
                          <a:cs typeface="Calibri" pitchFamily="34" charset="-120"/>
                        </a:rPr>
                        <a:t>No ordering</a:t>
                      </a:r>
                      <a:endParaRPr lang="en-US" sz="12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200" b="1" dirty="0">
                          <a:solidFill>
                            <a:srgbClr val="1F3A5F"/>
                          </a:solidFill>
                          <a:latin typeface="Calibri" pitchFamily="34" charset="0"/>
                          <a:ea typeface="Calibri" pitchFamily="34" charset="-122"/>
                          <a:cs typeface="Calibri" pitchFamily="34" charset="-120"/>
                        </a:rPr>
                        <a:t>Header / PDU</a:t>
                      </a:r>
                      <a:endParaRPr lang="en-US" sz="12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FFFFFF"/>
                    </a:solidFill>
                  </a:tcPr>
                </a:tc>
                <a:tc>
                  <a:txBody>
                    <a:bodyPr/>
                    <a:lstStyle/>
                    <a:p>
                      <a:pPr marL="0" indent="0">
                        <a:buNone/>
                      </a:pPr>
                      <a:r>
                        <a:rPr lang="en-US" sz="1200" dirty="0">
                          <a:solidFill>
                            <a:srgbClr val="44546A"/>
                          </a:solidFill>
                          <a:latin typeface="Calibri" pitchFamily="34" charset="0"/>
                          <a:ea typeface="Calibri" pitchFamily="34" charset="-122"/>
                          <a:cs typeface="Calibri" pitchFamily="34" charset="-120"/>
                        </a:rPr>
                        <a:t>20+ bytes / segment</a:t>
                      </a:r>
                      <a:endParaRPr lang="en-US" sz="12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FFFFFF"/>
                    </a:solidFill>
                  </a:tcPr>
                </a:tc>
                <a:tc>
                  <a:txBody>
                    <a:bodyPr/>
                    <a:lstStyle/>
                    <a:p>
                      <a:pPr marL="0" indent="0">
                        <a:buNone/>
                      </a:pPr>
                      <a:r>
                        <a:rPr lang="en-US" sz="1200" dirty="0">
                          <a:solidFill>
                            <a:srgbClr val="44546A"/>
                          </a:solidFill>
                          <a:latin typeface="Calibri" pitchFamily="34" charset="0"/>
                          <a:ea typeface="Calibri" pitchFamily="34" charset="-122"/>
                          <a:cs typeface="Calibri" pitchFamily="34" charset="-120"/>
                        </a:rPr>
                        <a:t>8 bytes / datagram</a:t>
                      </a:r>
                      <a:endParaRPr lang="en-US" sz="12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buNone/>
                      </a:pPr>
                      <a:r>
                        <a:rPr lang="en-US" sz="1200" b="1" dirty="0">
                          <a:solidFill>
                            <a:srgbClr val="1F3A5F"/>
                          </a:solidFill>
                          <a:latin typeface="Calibri" pitchFamily="34" charset="0"/>
                          <a:ea typeface="Calibri" pitchFamily="34" charset="-122"/>
                          <a:cs typeface="Calibri" pitchFamily="34" charset="-120"/>
                        </a:rPr>
                        <a:t>Speed</a:t>
                      </a:r>
                      <a:endParaRPr lang="en-US" sz="12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FFFFFF"/>
                    </a:solidFill>
                  </a:tcPr>
                </a:tc>
                <a:tc>
                  <a:txBody>
                    <a:bodyPr/>
                    <a:lstStyle/>
                    <a:p>
                      <a:pPr marL="0" indent="0">
                        <a:buNone/>
                      </a:pPr>
                      <a:r>
                        <a:rPr lang="en-US" sz="1200" dirty="0">
                          <a:solidFill>
                            <a:srgbClr val="44546A"/>
                          </a:solidFill>
                          <a:latin typeface="Calibri" pitchFamily="34" charset="0"/>
                          <a:ea typeface="Calibri" pitchFamily="34" charset="-122"/>
                          <a:cs typeface="Calibri" pitchFamily="34" charset="-120"/>
                        </a:rPr>
                        <a:t>Slower, more overhead</a:t>
                      </a:r>
                      <a:endParaRPr lang="en-US" sz="12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FFFFFF"/>
                    </a:solidFill>
                  </a:tcPr>
                </a:tc>
                <a:tc>
                  <a:txBody>
                    <a:bodyPr/>
                    <a:lstStyle/>
                    <a:p>
                      <a:pPr marL="0" indent="0">
                        <a:buNone/>
                      </a:pPr>
                      <a:r>
                        <a:rPr lang="en-US" sz="1200" dirty="0">
                          <a:solidFill>
                            <a:srgbClr val="44546A"/>
                          </a:solidFill>
                          <a:latin typeface="Calibri" pitchFamily="34" charset="0"/>
                          <a:ea typeface="Calibri" pitchFamily="34" charset="-122"/>
                          <a:cs typeface="Calibri" pitchFamily="34" charset="-120"/>
                        </a:rPr>
                        <a:t>Fast, low overhead</a:t>
                      </a:r>
                      <a:endParaRPr lang="en-US" sz="12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buNone/>
                      </a:pPr>
                      <a:r>
                        <a:rPr lang="en-US" sz="1200" b="1" dirty="0">
                          <a:solidFill>
                            <a:srgbClr val="1F3A5F"/>
                          </a:solidFill>
                          <a:latin typeface="Calibri" pitchFamily="34" charset="0"/>
                          <a:ea typeface="Calibri" pitchFamily="34" charset="-122"/>
                          <a:cs typeface="Calibri" pitchFamily="34" charset="-120"/>
                        </a:rPr>
                        <a:t>In my capture</a:t>
                      </a:r>
                      <a:endParaRPr lang="en-US" sz="12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FFFFFF"/>
                    </a:solidFill>
                  </a:tcPr>
                </a:tc>
                <a:tc>
                  <a:txBody>
                    <a:bodyPr/>
                    <a:lstStyle/>
                    <a:p>
                      <a:pPr marL="0" indent="0">
                        <a:buNone/>
                      </a:pPr>
                      <a:r>
                        <a:rPr lang="en-US" sz="1200" dirty="0">
                          <a:solidFill>
                            <a:srgbClr val="44546A"/>
                          </a:solidFill>
                          <a:latin typeface="Calibri" pitchFamily="34" charset="0"/>
                          <a:ea typeface="Calibri" pitchFamily="34" charset="-122"/>
                          <a:cs typeface="Calibri" pitchFamily="34" charset="-120"/>
                        </a:rPr>
                        <a:t>HTTPS, port 443</a:t>
                      </a:r>
                      <a:endParaRPr lang="en-US" sz="12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FFFFFF"/>
                    </a:solidFill>
                  </a:tcPr>
                </a:tc>
                <a:tc>
                  <a:txBody>
                    <a:bodyPr/>
                    <a:lstStyle/>
                    <a:p>
                      <a:pPr marL="0" indent="0">
                        <a:buNone/>
                      </a:pPr>
                      <a:r>
                        <a:rPr lang="en-US" sz="1200" dirty="0">
                          <a:solidFill>
                            <a:srgbClr val="44546A"/>
                          </a:solidFill>
                          <a:latin typeface="Calibri" pitchFamily="34" charset="0"/>
                          <a:ea typeface="Calibri" pitchFamily="34" charset="-122"/>
                          <a:cs typeface="Calibri" pitchFamily="34" charset="-120"/>
                        </a:rPr>
                        <a:t>DNS, port 53</a:t>
                      </a:r>
                      <a:endParaRPr lang="en-US" sz="1200" dirty="0">
                        <a:latin typeface="Calibri" charset="0"/>
                        <a:ea typeface="Calibri" charset="0"/>
                        <a:cs typeface="Calibri" charset="0"/>
                      </a:endParaRPr>
                    </a:p>
                  </a:txBody>
                  <a:tcPr anchor="ctr">
                    <a:lnL w="12700" cap="flat" cmpd="sng" algn="ctr">
                      <a:solidFill>
                        <a:srgbClr val="DCE8F4"/>
                      </a:solidFill>
                      <a:prstDash val="solid"/>
                      <a:round/>
                      <a:headEnd type="none" w="med" len="med"/>
                      <a:tailEnd type="none" w="med" len="med"/>
                    </a:lnL>
                    <a:lnR w="12700" cap="flat" cmpd="sng" algn="ctr">
                      <a:solidFill>
                        <a:srgbClr val="DCE8F4"/>
                      </a:solidFill>
                      <a:prstDash val="solid"/>
                      <a:round/>
                      <a:headEnd type="none" w="med" len="med"/>
                      <a:tailEnd type="none" w="med" len="med"/>
                    </a:lnR>
                    <a:lnT w="12700" cap="flat" cmpd="sng" algn="ctr">
                      <a:solidFill>
                        <a:srgbClr val="DCE8F4"/>
                      </a:solidFill>
                      <a:prstDash val="solid"/>
                      <a:round/>
                      <a:headEnd type="none" w="med" len="med"/>
                      <a:tailEnd type="none" w="med" len="med"/>
                    </a:lnT>
                    <a:lnB w="12700" cap="flat" cmpd="sng" algn="ctr">
                      <a:solidFill>
                        <a:srgbClr val="DCE8F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pic>
        <p:nvPicPr>
          <p:cNvPr id="10" name="Image 0" descr="/home/claude/ss/word/media/image7.png"/>
          <p:cNvPicPr>
            <a:picLocks noChangeAspect="1"/>
          </p:cNvPicPr>
          <p:nvPr/>
        </p:nvPicPr>
        <p:blipFill>
          <a:blip r:embed="rId3"/>
          <a:stretch>
            <a:fillRect/>
          </a:stretch>
        </p:blipFill>
        <p:spPr>
          <a:xfrm>
            <a:off x="5532120" y="1463040"/>
            <a:ext cx="3154680" cy="1380744"/>
          </a:xfrm>
          <a:prstGeom prst="rect">
            <a:avLst/>
          </a:prstGeom>
        </p:spPr>
      </p:pic>
      <p:sp>
        <p:nvSpPr>
          <p:cNvPr id="11" name="Text 7"/>
          <p:cNvSpPr txBox="1"/>
          <p:nvPr/>
        </p:nvSpPr>
        <p:spPr>
          <a:xfrm>
            <a:off x="5532120" y="2880360"/>
            <a:ext cx="3154680" cy="365760"/>
          </a:xfrm>
          <a:prstGeom prst="rect">
            <a:avLst/>
          </a:prstGeom>
          <a:noFill/>
          <a:ln/>
        </p:spPr>
        <p:txBody>
          <a:bodyPr wrap="square" lIns="0" tIns="0" rIns="0" bIns="0" rtlCol="0" anchor="t"/>
          <a:lstStyle/>
          <a:p>
            <a:pPr marL="0" indent="0">
              <a:buNone/>
            </a:pPr>
            <a:r>
              <a:rPr lang="en-US" sz="1100" i="1" dirty="0">
                <a:solidFill>
                  <a:srgbClr val="44546A"/>
                </a:solidFill>
                <a:latin typeface="Calibri" pitchFamily="34" charset="0"/>
                <a:ea typeface="Calibri" pitchFamily="34" charset="-122"/>
                <a:cs typeface="Calibri" pitchFamily="34" charset="-120"/>
              </a:rPr>
              <a:t>UDP: DNS query, source port 57452 to port 53, length 31</a:t>
            </a:r>
            <a:endParaRPr lang="en-US" sz="1100" dirty="0"/>
          </a:p>
        </p:txBody>
      </p:sp>
      <p:sp>
        <p:nvSpPr>
          <p:cNvPr id="12" name="Shape 8"/>
          <p:cNvSpPr/>
          <p:nvPr/>
        </p:nvSpPr>
        <p:spPr>
          <a:xfrm>
            <a:off x="5532120" y="3337560"/>
            <a:ext cx="3154680" cy="566928"/>
          </a:xfrm>
          <a:prstGeom prst="roundRect">
            <a:avLst>
              <a:gd name="adj" fmla="val 12903"/>
            </a:avLst>
          </a:prstGeom>
          <a:solidFill>
            <a:srgbClr val="DCE8F4"/>
          </a:solidFill>
          <a:ln w="12700">
            <a:solidFill>
              <a:srgbClr val="DCE8F4"/>
            </a:solidFill>
            <a:prstDash val="solid"/>
          </a:ln>
        </p:spPr>
        <p:txBody>
          <a:bodyPr/>
          <a:lstStyle/>
          <a:p>
            <a:endParaRPr lang="en-US"/>
          </a:p>
        </p:txBody>
      </p:sp>
      <p:sp>
        <p:nvSpPr>
          <p:cNvPr id="13" name="Text 9"/>
          <p:cNvSpPr txBox="1"/>
          <p:nvPr/>
        </p:nvSpPr>
        <p:spPr>
          <a:xfrm>
            <a:off x="5669280" y="3337560"/>
            <a:ext cx="1005840" cy="566928"/>
          </a:xfrm>
          <a:prstGeom prst="rect">
            <a:avLst/>
          </a:prstGeom>
          <a:noFill/>
          <a:ln/>
        </p:spPr>
        <p:txBody>
          <a:bodyPr wrap="square" lIns="0" tIns="0" rIns="0" bIns="0" rtlCol="0" anchor="ctr"/>
          <a:lstStyle/>
          <a:p>
            <a:pPr marL="0" indent="0">
              <a:buNone/>
            </a:pPr>
            <a:r>
              <a:rPr lang="en-US" sz="2000" b="1" dirty="0">
                <a:solidFill>
                  <a:srgbClr val="1F3A5F"/>
                </a:solidFill>
                <a:latin typeface="Calibri" pitchFamily="34" charset="0"/>
                <a:ea typeface="Calibri" pitchFamily="34" charset="-122"/>
                <a:cs typeface="Calibri" pitchFamily="34" charset="-120"/>
              </a:rPr>
              <a:t>58.3%</a:t>
            </a:r>
            <a:endParaRPr lang="en-US" sz="2000" dirty="0"/>
          </a:p>
        </p:txBody>
      </p:sp>
      <p:sp>
        <p:nvSpPr>
          <p:cNvPr id="14" name="Text 10"/>
          <p:cNvSpPr txBox="1"/>
          <p:nvPr/>
        </p:nvSpPr>
        <p:spPr>
          <a:xfrm>
            <a:off x="6675120" y="3337560"/>
            <a:ext cx="1920240" cy="566928"/>
          </a:xfrm>
          <a:prstGeom prst="rect">
            <a:avLst/>
          </a:prstGeom>
          <a:noFill/>
          <a:ln/>
        </p:spPr>
        <p:txBody>
          <a:bodyPr wrap="square" lIns="0" tIns="0" rIns="0" bIns="0" rtlCol="0" anchor="ctr"/>
          <a:lstStyle/>
          <a:p>
            <a:pPr marL="0" indent="0">
              <a:buNone/>
            </a:pPr>
            <a:r>
              <a:rPr lang="en-US" sz="1200" dirty="0">
                <a:solidFill>
                  <a:srgbClr val="44546A"/>
                </a:solidFill>
                <a:latin typeface="Calibri" pitchFamily="34" charset="0"/>
                <a:ea typeface="Calibri" pitchFamily="34" charset="-122"/>
                <a:cs typeface="Calibri" pitchFamily="34" charset="-120"/>
              </a:rPr>
              <a:t>packets were TCP (HTTPS/TLS)</a:t>
            </a:r>
            <a:endParaRPr lang="en-US" sz="1200" dirty="0"/>
          </a:p>
        </p:txBody>
      </p:sp>
      <p:sp>
        <p:nvSpPr>
          <p:cNvPr id="15" name="Shape 11"/>
          <p:cNvSpPr/>
          <p:nvPr/>
        </p:nvSpPr>
        <p:spPr>
          <a:xfrm>
            <a:off x="5532120" y="3995928"/>
            <a:ext cx="3154680" cy="566928"/>
          </a:xfrm>
          <a:prstGeom prst="roundRect">
            <a:avLst>
              <a:gd name="adj" fmla="val 12903"/>
            </a:avLst>
          </a:prstGeom>
          <a:solidFill>
            <a:srgbClr val="DCE8F4"/>
          </a:solidFill>
          <a:ln w="12700">
            <a:solidFill>
              <a:srgbClr val="DCE8F4"/>
            </a:solidFill>
            <a:prstDash val="solid"/>
          </a:ln>
        </p:spPr>
        <p:txBody>
          <a:bodyPr/>
          <a:lstStyle/>
          <a:p>
            <a:endParaRPr lang="en-US"/>
          </a:p>
        </p:txBody>
      </p:sp>
      <p:sp>
        <p:nvSpPr>
          <p:cNvPr id="16" name="Text 12"/>
          <p:cNvSpPr txBox="1"/>
          <p:nvPr/>
        </p:nvSpPr>
        <p:spPr>
          <a:xfrm>
            <a:off x="5669280" y="3995928"/>
            <a:ext cx="1005840" cy="566928"/>
          </a:xfrm>
          <a:prstGeom prst="rect">
            <a:avLst/>
          </a:prstGeom>
          <a:noFill/>
          <a:ln/>
        </p:spPr>
        <p:txBody>
          <a:bodyPr wrap="square" lIns="0" tIns="0" rIns="0" bIns="0" rtlCol="0" anchor="ctr"/>
          <a:lstStyle/>
          <a:p>
            <a:pPr marL="0" indent="0">
              <a:buNone/>
            </a:pPr>
            <a:r>
              <a:rPr lang="en-US" sz="2000" b="1" dirty="0">
                <a:solidFill>
                  <a:srgbClr val="1F3A5F"/>
                </a:solidFill>
                <a:latin typeface="Calibri" pitchFamily="34" charset="0"/>
                <a:ea typeface="Calibri" pitchFamily="34" charset="-122"/>
                <a:cs typeface="Calibri" pitchFamily="34" charset="-120"/>
              </a:rPr>
              <a:t>3.1%</a:t>
            </a:r>
            <a:endParaRPr lang="en-US" sz="2000" dirty="0"/>
          </a:p>
        </p:txBody>
      </p:sp>
      <p:sp>
        <p:nvSpPr>
          <p:cNvPr id="17" name="Text 13"/>
          <p:cNvSpPr txBox="1"/>
          <p:nvPr/>
        </p:nvSpPr>
        <p:spPr>
          <a:xfrm>
            <a:off x="6675120" y="3995928"/>
            <a:ext cx="1920240" cy="566928"/>
          </a:xfrm>
          <a:prstGeom prst="rect">
            <a:avLst/>
          </a:prstGeom>
          <a:noFill/>
          <a:ln/>
        </p:spPr>
        <p:txBody>
          <a:bodyPr wrap="square" lIns="0" tIns="0" rIns="0" bIns="0" rtlCol="0" anchor="ctr"/>
          <a:lstStyle/>
          <a:p>
            <a:pPr marL="0" indent="0">
              <a:buNone/>
            </a:pPr>
            <a:r>
              <a:rPr lang="en-US" sz="1200" dirty="0">
                <a:solidFill>
                  <a:srgbClr val="44546A"/>
                </a:solidFill>
                <a:latin typeface="Calibri" pitchFamily="34" charset="0"/>
                <a:ea typeface="Calibri" pitchFamily="34" charset="-122"/>
                <a:cs typeface="Calibri" pitchFamily="34" charset="-120"/>
              </a:rPr>
              <a:t>packets were UDP (DNS)</a:t>
            </a:r>
            <a:endParaRPr lang="en-US" sz="1200" dirty="0"/>
          </a:p>
        </p:txBody>
      </p:sp>
      <p:sp>
        <p:nvSpPr>
          <p:cNvPr id="18" name="Text 14"/>
          <p:cNvSpPr txBox="1"/>
          <p:nvPr/>
        </p:nvSpPr>
        <p:spPr>
          <a:xfrm>
            <a:off x="457200" y="4343400"/>
            <a:ext cx="4846320" cy="411480"/>
          </a:xfrm>
          <a:prstGeom prst="rect">
            <a:avLst/>
          </a:prstGeom>
          <a:noFill/>
          <a:ln/>
        </p:spPr>
        <p:txBody>
          <a:bodyPr wrap="square" lIns="0" tIns="0" rIns="0" bIns="0" rtlCol="0" anchor="t"/>
          <a:lstStyle/>
          <a:p>
            <a:pPr marL="0" indent="0">
              <a:buNone/>
            </a:pPr>
            <a:r>
              <a:rPr lang="en-US" sz="1200" b="1" dirty="0">
                <a:solidFill>
                  <a:srgbClr val="1F3A5F"/>
                </a:solidFill>
                <a:latin typeface="Calibri" pitchFamily="34" charset="0"/>
                <a:ea typeface="Calibri" pitchFamily="34" charset="-122"/>
                <a:cs typeface="Calibri" pitchFamily="34" charset="-120"/>
              </a:rPr>
              <a:t>TCP session to 172.66.0.227:443: SYN, SYN-ACK, ACK, then TLS Client Hello (SNI = x.com).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DCE8F4"/>
          </a:solidFill>
          <a:ln w="12700">
            <a:solidFill>
              <a:srgbClr val="DCE8F4"/>
            </a:solidFill>
            <a:prstDash val="solid"/>
          </a:ln>
        </p:spPr>
        <p:txBody>
          <a:bodyPr/>
          <a:lstStyle/>
          <a:p>
            <a:endParaRPr lang="en-US"/>
          </a:p>
        </p:txBody>
      </p:sp>
      <p:sp>
        <p:nvSpPr>
          <p:cNvPr id="3" name="Text 1"/>
          <p:cNvSpPr txBox="1"/>
          <p:nvPr/>
        </p:nvSpPr>
        <p:spPr>
          <a:xfrm>
            <a:off x="457200" y="320040"/>
            <a:ext cx="548640" cy="548640"/>
          </a:xfrm>
          <a:prstGeom prst="rect">
            <a:avLst/>
          </a:prstGeom>
          <a:noFill/>
          <a:ln/>
        </p:spPr>
        <p:txBody>
          <a:bodyPr wrap="square" lIns="0" tIns="0" rIns="0" bIns="0" rtlCol="0" anchor="ctr"/>
          <a:lstStyle/>
          <a:p>
            <a:pPr marL="0" indent="0" algn="ctr">
              <a:buNone/>
            </a:pPr>
            <a:r>
              <a:rPr lang="en-US" sz="1600" b="1" dirty="0">
                <a:solidFill>
                  <a:srgbClr val="1F3A5F"/>
                </a:solidFill>
                <a:latin typeface="Calibri" pitchFamily="34" charset="0"/>
                <a:ea typeface="Calibri" pitchFamily="34" charset="-122"/>
                <a:cs typeface="Calibri" pitchFamily="34" charset="-120"/>
              </a:rPr>
              <a:t>02</a:t>
            </a:r>
            <a:endParaRPr lang="en-US" sz="1600" dirty="0"/>
          </a:p>
        </p:txBody>
      </p:sp>
      <p:sp>
        <p:nvSpPr>
          <p:cNvPr id="4" name="Text 2"/>
          <p:cNvSpPr txBox="1"/>
          <p:nvPr/>
        </p:nvSpPr>
        <p:spPr>
          <a:xfrm>
            <a:off x="1188720" y="274320"/>
            <a:ext cx="7498080" cy="457200"/>
          </a:xfrm>
          <a:prstGeom prst="rect">
            <a:avLst/>
          </a:prstGeom>
          <a:noFill/>
          <a:ln/>
        </p:spPr>
        <p:txBody>
          <a:bodyPr wrap="square" lIns="0" tIns="0" rIns="0" bIns="0" rtlCol="0" anchor="ctr"/>
          <a:lstStyle/>
          <a:p>
            <a:pPr marL="0" indent="0">
              <a:buNone/>
            </a:pPr>
            <a:r>
              <a:rPr lang="en-US" sz="2800" b="1" dirty="0">
                <a:solidFill>
                  <a:srgbClr val="1F3A5F"/>
                </a:solidFill>
                <a:latin typeface="Calibri" pitchFamily="34" charset="0"/>
                <a:ea typeface="Calibri" pitchFamily="34" charset="-122"/>
                <a:cs typeface="Calibri" pitchFamily="34" charset="-120"/>
              </a:rPr>
              <a:t>Application examples</a:t>
            </a:r>
            <a:endParaRPr lang="en-US" sz="2800" dirty="0"/>
          </a:p>
        </p:txBody>
      </p:sp>
      <p:sp>
        <p:nvSpPr>
          <p:cNvPr id="5" name="Text 3"/>
          <p:cNvSpPr txBox="1"/>
          <p:nvPr/>
        </p:nvSpPr>
        <p:spPr>
          <a:xfrm>
            <a:off x="1188720" y="713232"/>
            <a:ext cx="7498080" cy="274320"/>
          </a:xfrm>
          <a:prstGeom prst="rect">
            <a:avLst/>
          </a:prstGeom>
          <a:noFill/>
          <a:ln/>
        </p:spPr>
        <p:txBody>
          <a:bodyPr wrap="square" lIns="0" tIns="0" rIns="0" bIns="0" rtlCol="0" anchor="ctr"/>
          <a:lstStyle/>
          <a:p>
            <a:pPr marL="0" indent="0">
              <a:buNone/>
            </a:pPr>
            <a:r>
              <a:rPr lang="en-US" sz="1400" dirty="0">
                <a:solidFill>
                  <a:srgbClr val="3F7CAC"/>
                </a:solidFill>
                <a:latin typeface="Calibri" pitchFamily="34" charset="0"/>
                <a:ea typeface="Calibri" pitchFamily="34" charset="-122"/>
                <a:cs typeface="Calibri" pitchFamily="34" charset="-120"/>
              </a:rPr>
              <a:t>The right protocol depends on what the application can tolerate</a:t>
            </a:r>
            <a:endParaRPr lang="en-US" sz="14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rgbClr val="7A8CA3"/>
                </a:solidFill>
                <a:latin typeface="Calibri" pitchFamily="34" charset="0"/>
                <a:ea typeface="Calibri" pitchFamily="34" charset="-122"/>
                <a:cs typeface="Calibri" pitchFamily="34" charset="-120"/>
              </a:rPr>
              <a:t>TEAM-08  |  TCP IP Communication in Action</a:t>
            </a:r>
            <a:endParaRPr lang="en-US" sz="1000" dirty="0"/>
          </a:p>
        </p:txBody>
      </p:sp>
      <p:sp>
        <p:nvSpPr>
          <p:cNvPr id="7" name="Text 5"/>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1000" dirty="0">
                <a:solidFill>
                  <a:srgbClr val="7A8CA3"/>
                </a:solidFill>
                <a:latin typeface="Calibri" pitchFamily="34" charset="0"/>
                <a:ea typeface="Calibri" pitchFamily="34" charset="-122"/>
                <a:cs typeface="Calibri" pitchFamily="34" charset="-120"/>
              </a:rPr>
              <a:t>02 / 04</a:t>
            </a:r>
            <a:endParaRPr lang="en-US" sz="1000" dirty="0"/>
          </a:p>
        </p:txBody>
      </p:sp>
      <p:sp>
        <p:nvSpPr>
          <p:cNvPr id="8" name="Shape 6"/>
          <p:cNvSpPr/>
          <p:nvPr/>
        </p:nvSpPr>
        <p:spPr>
          <a:xfrm>
            <a:off x="457200" y="1234440"/>
            <a:ext cx="3931920" cy="3429000"/>
          </a:xfrm>
          <a:prstGeom prst="roundRect">
            <a:avLst>
              <a:gd name="adj" fmla="val 2133"/>
            </a:avLst>
          </a:prstGeom>
          <a:solidFill>
            <a:srgbClr val="EEF4FA"/>
          </a:solidFill>
          <a:ln w="12700">
            <a:solidFill>
              <a:srgbClr val="DCE8F4"/>
            </a:solidFill>
            <a:prstDash val="solid"/>
          </a:ln>
        </p:spPr>
        <p:txBody>
          <a:bodyPr/>
          <a:lstStyle/>
          <a:p>
            <a:endParaRPr lang="en-US"/>
          </a:p>
        </p:txBody>
      </p:sp>
      <p:sp>
        <p:nvSpPr>
          <p:cNvPr id="9" name="Text 7"/>
          <p:cNvSpPr txBox="1"/>
          <p:nvPr/>
        </p:nvSpPr>
        <p:spPr>
          <a:xfrm>
            <a:off x="685800" y="1371600"/>
            <a:ext cx="3474720" cy="365760"/>
          </a:xfrm>
          <a:prstGeom prst="rect">
            <a:avLst/>
          </a:prstGeom>
          <a:noFill/>
          <a:ln/>
        </p:spPr>
        <p:txBody>
          <a:bodyPr wrap="square" lIns="0" tIns="0" rIns="0" bIns="0" rtlCol="0" anchor="ctr"/>
          <a:lstStyle/>
          <a:p>
            <a:pPr marL="0" indent="0">
              <a:buNone/>
            </a:pPr>
            <a:r>
              <a:rPr lang="en-US" sz="2000" b="1" dirty="0">
                <a:solidFill>
                  <a:srgbClr val="1F3A5F"/>
                </a:solidFill>
                <a:latin typeface="Calibri" pitchFamily="34" charset="0"/>
                <a:ea typeface="Calibri" pitchFamily="34" charset="-122"/>
                <a:cs typeface="Calibri" pitchFamily="34" charset="-120"/>
              </a:rPr>
              <a:t>TCP</a:t>
            </a:r>
            <a:endParaRPr lang="en-US" sz="2000" dirty="0"/>
          </a:p>
        </p:txBody>
      </p:sp>
      <p:sp>
        <p:nvSpPr>
          <p:cNvPr id="10" name="Text 8"/>
          <p:cNvSpPr txBox="1"/>
          <p:nvPr/>
        </p:nvSpPr>
        <p:spPr>
          <a:xfrm>
            <a:off x="685800" y="1737360"/>
            <a:ext cx="3474720" cy="274320"/>
          </a:xfrm>
          <a:prstGeom prst="rect">
            <a:avLst/>
          </a:prstGeom>
          <a:noFill/>
          <a:ln/>
        </p:spPr>
        <p:txBody>
          <a:bodyPr wrap="square" lIns="0" tIns="0" rIns="0" bIns="0" rtlCol="0" anchor="ctr"/>
          <a:lstStyle/>
          <a:p>
            <a:pPr marL="0" indent="0">
              <a:buNone/>
            </a:pPr>
            <a:r>
              <a:rPr lang="en-US" sz="1200" i="1" dirty="0">
                <a:solidFill>
                  <a:srgbClr val="3F7CAC"/>
                </a:solidFill>
                <a:latin typeface="Calibri" pitchFamily="34" charset="0"/>
                <a:ea typeface="Calibri" pitchFamily="34" charset="-122"/>
                <a:cs typeface="Calibri" pitchFamily="34" charset="-120"/>
              </a:rPr>
              <a:t>Reliability first</a:t>
            </a:r>
            <a:endParaRPr lang="en-US" sz="1200" dirty="0"/>
          </a:p>
        </p:txBody>
      </p:sp>
      <p:sp>
        <p:nvSpPr>
          <p:cNvPr id="11" name="Text 9"/>
          <p:cNvSpPr txBox="1"/>
          <p:nvPr/>
        </p:nvSpPr>
        <p:spPr>
          <a:xfrm>
            <a:off x="685800" y="2148840"/>
            <a:ext cx="3474720" cy="2377440"/>
          </a:xfrm>
          <a:prstGeom prst="rect">
            <a:avLst/>
          </a:prstGeom>
          <a:noFill/>
          <a:ln/>
        </p:spPr>
        <p:txBody>
          <a:bodyPr wrap="square" lIns="0" tIns="0" rIns="0" bIns="0" rtlCol="0" anchor="t"/>
          <a:lstStyle/>
          <a:p>
            <a:pPr marL="342900" indent="-342900">
              <a:spcAft>
                <a:spcPts val="900"/>
              </a:spcAft>
              <a:buSzPct val="100000"/>
              <a:buChar char="•"/>
            </a:pPr>
            <a:r>
              <a:rPr lang="en-US" sz="1400" b="1" dirty="0">
                <a:solidFill>
                  <a:srgbClr val="1F3A5F"/>
                </a:solidFill>
                <a:latin typeface="Calibri" pitchFamily="34" charset="0"/>
                <a:ea typeface="Calibri" pitchFamily="34" charset="-122"/>
                <a:cs typeface="Calibri" pitchFamily="34" charset="-120"/>
              </a:rPr>
              <a:t>Secure web (HTTPS, 443)  </a:t>
            </a:r>
            <a:r>
              <a:rPr lang="en-US" sz="1400" dirty="0">
                <a:solidFill>
                  <a:srgbClr val="44546A"/>
                </a:solidFill>
                <a:latin typeface="Calibri" pitchFamily="34" charset="0"/>
                <a:ea typeface="Calibri" pitchFamily="34" charset="-122"/>
                <a:cs typeface="Calibri" pitchFamily="34" charset="-120"/>
              </a:rPr>
              <a:t>every byte must arrive in order</a:t>
            </a:r>
            <a:endParaRPr lang="en-US" sz="1400" dirty="0"/>
          </a:p>
          <a:p>
            <a:pPr marL="342900" indent="-342900">
              <a:spcAft>
                <a:spcPts val="900"/>
              </a:spcAft>
              <a:buSzPct val="100000"/>
              <a:buChar char="•"/>
            </a:pPr>
            <a:r>
              <a:rPr lang="en-US" sz="1400" b="1" dirty="0">
                <a:solidFill>
                  <a:srgbClr val="1F3A5F"/>
                </a:solidFill>
                <a:latin typeface="Calibri" pitchFamily="34" charset="0"/>
                <a:ea typeface="Calibri" pitchFamily="34" charset="-122"/>
                <a:cs typeface="Calibri" pitchFamily="34" charset="-120"/>
              </a:rPr>
              <a:t>Email (SMTP, IMAP)  </a:t>
            </a:r>
            <a:r>
              <a:rPr lang="en-US" sz="1400" dirty="0">
                <a:solidFill>
                  <a:srgbClr val="44546A"/>
                </a:solidFill>
                <a:latin typeface="Calibri" pitchFamily="34" charset="0"/>
                <a:ea typeface="Calibri" pitchFamily="34" charset="-122"/>
                <a:cs typeface="Calibri" pitchFamily="34" charset="-120"/>
              </a:rPr>
              <a:t>messages must not be lost</a:t>
            </a:r>
            <a:endParaRPr lang="en-US" sz="1400" dirty="0"/>
          </a:p>
          <a:p>
            <a:pPr marL="342900" indent="-342900">
              <a:spcAft>
                <a:spcPts val="900"/>
              </a:spcAft>
              <a:buSzPct val="100000"/>
              <a:buChar char="•"/>
            </a:pPr>
            <a:r>
              <a:rPr lang="en-US" sz="1400" b="1" dirty="0">
                <a:solidFill>
                  <a:srgbClr val="1F3A5F"/>
                </a:solidFill>
                <a:latin typeface="Calibri" pitchFamily="34" charset="0"/>
                <a:ea typeface="Calibri" pitchFamily="34" charset="-122"/>
                <a:cs typeface="Calibri" pitchFamily="34" charset="-120"/>
              </a:rPr>
              <a:t>File transfer (FTP, SFTP)  </a:t>
            </a:r>
            <a:r>
              <a:rPr lang="en-US" sz="1400" dirty="0">
                <a:solidFill>
                  <a:srgbClr val="44546A"/>
                </a:solidFill>
                <a:latin typeface="Calibri" pitchFamily="34" charset="0"/>
                <a:ea typeface="Calibri" pitchFamily="34" charset="-122"/>
                <a:cs typeface="Calibri" pitchFamily="34" charset="-120"/>
              </a:rPr>
              <a:t>one missing block corrupts the file</a:t>
            </a:r>
            <a:endParaRPr lang="en-US" sz="1400" dirty="0"/>
          </a:p>
          <a:p>
            <a:pPr marL="342900" indent="-342900">
              <a:spcAft>
                <a:spcPts val="900"/>
              </a:spcAft>
              <a:buSzPct val="100000"/>
              <a:buChar char="•"/>
            </a:pPr>
            <a:r>
              <a:rPr lang="en-US" sz="1400" b="1" dirty="0">
                <a:solidFill>
                  <a:srgbClr val="1F3A5F"/>
                </a:solidFill>
                <a:latin typeface="Calibri" pitchFamily="34" charset="0"/>
                <a:ea typeface="Calibri" pitchFamily="34" charset="-122"/>
                <a:cs typeface="Calibri" pitchFamily="34" charset="-120"/>
              </a:rPr>
              <a:t>Remote access (SSH, RDP)  </a:t>
            </a:r>
            <a:r>
              <a:rPr lang="en-US" sz="1400" dirty="0">
                <a:solidFill>
                  <a:srgbClr val="44546A"/>
                </a:solidFill>
                <a:latin typeface="Calibri" pitchFamily="34" charset="0"/>
                <a:ea typeface="Calibri" pitchFamily="34" charset="-122"/>
                <a:cs typeface="Calibri" pitchFamily="34" charset="-120"/>
              </a:rPr>
              <a:t>commands must be exact</a:t>
            </a:r>
            <a:endParaRPr lang="en-US" sz="1400" dirty="0"/>
          </a:p>
        </p:txBody>
      </p:sp>
      <p:sp>
        <p:nvSpPr>
          <p:cNvPr id="12" name="Shape 10"/>
          <p:cNvSpPr/>
          <p:nvPr/>
        </p:nvSpPr>
        <p:spPr>
          <a:xfrm>
            <a:off x="4754880" y="1234440"/>
            <a:ext cx="3931920" cy="3429000"/>
          </a:xfrm>
          <a:prstGeom prst="roundRect">
            <a:avLst>
              <a:gd name="adj" fmla="val 2133"/>
            </a:avLst>
          </a:prstGeom>
          <a:solidFill>
            <a:srgbClr val="EEF4FA"/>
          </a:solidFill>
          <a:ln w="12700">
            <a:solidFill>
              <a:srgbClr val="DCE8F4"/>
            </a:solidFill>
            <a:prstDash val="solid"/>
          </a:ln>
        </p:spPr>
        <p:txBody>
          <a:bodyPr/>
          <a:lstStyle/>
          <a:p>
            <a:endParaRPr lang="en-US"/>
          </a:p>
        </p:txBody>
      </p:sp>
      <p:sp>
        <p:nvSpPr>
          <p:cNvPr id="13" name="Text 11"/>
          <p:cNvSpPr txBox="1"/>
          <p:nvPr/>
        </p:nvSpPr>
        <p:spPr>
          <a:xfrm>
            <a:off x="4983480" y="1371600"/>
            <a:ext cx="3474720" cy="365760"/>
          </a:xfrm>
          <a:prstGeom prst="rect">
            <a:avLst/>
          </a:prstGeom>
          <a:noFill/>
          <a:ln/>
        </p:spPr>
        <p:txBody>
          <a:bodyPr wrap="square" lIns="0" tIns="0" rIns="0" bIns="0" rtlCol="0" anchor="ctr"/>
          <a:lstStyle/>
          <a:p>
            <a:pPr marL="0" indent="0">
              <a:buNone/>
            </a:pPr>
            <a:r>
              <a:rPr lang="en-US" sz="2000" b="1" dirty="0">
                <a:solidFill>
                  <a:srgbClr val="1F3A5F"/>
                </a:solidFill>
                <a:latin typeface="Calibri" pitchFamily="34" charset="0"/>
                <a:ea typeface="Calibri" pitchFamily="34" charset="-122"/>
                <a:cs typeface="Calibri" pitchFamily="34" charset="-120"/>
              </a:rPr>
              <a:t>UDP</a:t>
            </a:r>
            <a:endParaRPr lang="en-US" sz="2000" dirty="0"/>
          </a:p>
        </p:txBody>
      </p:sp>
      <p:sp>
        <p:nvSpPr>
          <p:cNvPr id="14" name="Text 12"/>
          <p:cNvSpPr txBox="1"/>
          <p:nvPr/>
        </p:nvSpPr>
        <p:spPr>
          <a:xfrm>
            <a:off x="4983480" y="1737360"/>
            <a:ext cx="3474720" cy="274320"/>
          </a:xfrm>
          <a:prstGeom prst="rect">
            <a:avLst/>
          </a:prstGeom>
          <a:noFill/>
          <a:ln/>
        </p:spPr>
        <p:txBody>
          <a:bodyPr wrap="square" lIns="0" tIns="0" rIns="0" bIns="0" rtlCol="0" anchor="ctr"/>
          <a:lstStyle/>
          <a:p>
            <a:pPr marL="0" indent="0">
              <a:buNone/>
            </a:pPr>
            <a:r>
              <a:rPr lang="en-US" sz="1200" i="1" dirty="0">
                <a:solidFill>
                  <a:srgbClr val="3F7CAC"/>
                </a:solidFill>
                <a:latin typeface="Calibri" pitchFamily="34" charset="0"/>
                <a:ea typeface="Calibri" pitchFamily="34" charset="-122"/>
                <a:cs typeface="Calibri" pitchFamily="34" charset="-120"/>
              </a:rPr>
              <a:t>Speed first</a:t>
            </a:r>
            <a:endParaRPr lang="en-US" sz="1200" dirty="0"/>
          </a:p>
        </p:txBody>
      </p:sp>
      <p:sp>
        <p:nvSpPr>
          <p:cNvPr id="15" name="Text 13"/>
          <p:cNvSpPr txBox="1"/>
          <p:nvPr/>
        </p:nvSpPr>
        <p:spPr>
          <a:xfrm>
            <a:off x="4983480" y="2148840"/>
            <a:ext cx="3474720" cy="2377440"/>
          </a:xfrm>
          <a:prstGeom prst="rect">
            <a:avLst/>
          </a:prstGeom>
          <a:noFill/>
          <a:ln/>
        </p:spPr>
        <p:txBody>
          <a:bodyPr wrap="square" lIns="0" tIns="0" rIns="0" bIns="0" rtlCol="0" anchor="t"/>
          <a:lstStyle/>
          <a:p>
            <a:pPr marL="342900" indent="-342900">
              <a:spcAft>
                <a:spcPts val="900"/>
              </a:spcAft>
              <a:buSzPct val="100000"/>
              <a:buChar char="•"/>
            </a:pPr>
            <a:r>
              <a:rPr lang="en-US" sz="1400" b="1" dirty="0">
                <a:solidFill>
                  <a:srgbClr val="1F3A5F"/>
                </a:solidFill>
                <a:latin typeface="Calibri" pitchFamily="34" charset="0"/>
                <a:ea typeface="Calibri" pitchFamily="34" charset="-122"/>
                <a:cs typeface="Calibri" pitchFamily="34" charset="-120"/>
              </a:rPr>
              <a:t>DNS lookups (53)  </a:t>
            </a:r>
            <a:r>
              <a:rPr lang="en-US" sz="1400" dirty="0">
                <a:solidFill>
                  <a:srgbClr val="44546A"/>
                </a:solidFill>
                <a:latin typeface="Calibri" pitchFamily="34" charset="0"/>
                <a:ea typeface="Calibri" pitchFamily="34" charset="-122"/>
                <a:cs typeface="Calibri" pitchFamily="34" charset="-120"/>
              </a:rPr>
              <a:t>one small question, one small answer</a:t>
            </a:r>
            <a:endParaRPr lang="en-US" sz="1400" dirty="0"/>
          </a:p>
          <a:p>
            <a:pPr marL="342900" indent="-342900">
              <a:spcAft>
                <a:spcPts val="900"/>
              </a:spcAft>
              <a:buSzPct val="100000"/>
              <a:buChar char="•"/>
            </a:pPr>
            <a:r>
              <a:rPr lang="en-US" sz="1400" b="1" dirty="0">
                <a:solidFill>
                  <a:srgbClr val="1F3A5F"/>
                </a:solidFill>
                <a:latin typeface="Calibri" pitchFamily="34" charset="0"/>
                <a:ea typeface="Calibri" pitchFamily="34" charset="-122"/>
                <a:cs typeface="Calibri" pitchFamily="34" charset="-120"/>
              </a:rPr>
              <a:t>Video meetings, VoIP  </a:t>
            </a:r>
            <a:r>
              <a:rPr lang="en-US" sz="1400" dirty="0">
                <a:solidFill>
                  <a:srgbClr val="44546A"/>
                </a:solidFill>
                <a:latin typeface="Calibri" pitchFamily="34" charset="0"/>
                <a:ea typeface="Calibri" pitchFamily="34" charset="-122"/>
                <a:cs typeface="Calibri" pitchFamily="34" charset="-120"/>
              </a:rPr>
              <a:t>a late packet is useless</a:t>
            </a:r>
            <a:endParaRPr lang="en-US" sz="1400" dirty="0"/>
          </a:p>
          <a:p>
            <a:pPr marL="342900" indent="-342900">
              <a:spcAft>
                <a:spcPts val="900"/>
              </a:spcAft>
              <a:buSzPct val="100000"/>
              <a:buChar char="•"/>
            </a:pPr>
            <a:r>
              <a:rPr lang="en-US" sz="1400" b="1" dirty="0">
                <a:solidFill>
                  <a:srgbClr val="1F3A5F"/>
                </a:solidFill>
                <a:latin typeface="Calibri" pitchFamily="34" charset="0"/>
                <a:ea typeface="Calibri" pitchFamily="34" charset="-122"/>
                <a:cs typeface="Calibri" pitchFamily="34" charset="-120"/>
              </a:rPr>
              <a:t>Live streaming, gaming  </a:t>
            </a:r>
            <a:r>
              <a:rPr lang="en-US" sz="1400" dirty="0">
                <a:solidFill>
                  <a:srgbClr val="44546A"/>
                </a:solidFill>
                <a:latin typeface="Calibri" pitchFamily="34" charset="0"/>
                <a:ea typeface="Calibri" pitchFamily="34" charset="-122"/>
                <a:cs typeface="Calibri" pitchFamily="34" charset="-120"/>
              </a:rPr>
              <a:t>current data beats retransmission</a:t>
            </a:r>
            <a:endParaRPr lang="en-US" sz="1400" dirty="0"/>
          </a:p>
          <a:p>
            <a:pPr marL="342900" indent="-342900">
              <a:spcAft>
                <a:spcPts val="900"/>
              </a:spcAft>
              <a:buSzPct val="100000"/>
              <a:buChar char="•"/>
            </a:pPr>
            <a:r>
              <a:rPr lang="en-US" sz="1400" b="1" dirty="0">
                <a:solidFill>
                  <a:srgbClr val="1F3A5F"/>
                </a:solidFill>
                <a:latin typeface="Calibri" pitchFamily="34" charset="0"/>
                <a:ea typeface="Calibri" pitchFamily="34" charset="-122"/>
                <a:cs typeface="Calibri" pitchFamily="34" charset="-120"/>
              </a:rPr>
              <a:t>DHCP, NTP  </a:t>
            </a:r>
            <a:r>
              <a:rPr lang="en-US" sz="1400" dirty="0">
                <a:solidFill>
                  <a:srgbClr val="44546A"/>
                </a:solidFill>
                <a:latin typeface="Calibri" pitchFamily="34" charset="0"/>
                <a:ea typeface="Calibri" pitchFamily="34" charset="-122"/>
                <a:cs typeface="Calibri" pitchFamily="34" charset="-120"/>
              </a:rPr>
              <a:t>short request and reply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DCE8F4"/>
          </a:solidFill>
          <a:ln w="12700">
            <a:solidFill>
              <a:srgbClr val="DCE8F4"/>
            </a:solidFill>
            <a:prstDash val="solid"/>
          </a:ln>
        </p:spPr>
        <p:txBody>
          <a:bodyPr/>
          <a:lstStyle/>
          <a:p>
            <a:endParaRPr lang="en-US"/>
          </a:p>
        </p:txBody>
      </p:sp>
      <p:sp>
        <p:nvSpPr>
          <p:cNvPr id="3" name="Text 1"/>
          <p:cNvSpPr txBox="1"/>
          <p:nvPr/>
        </p:nvSpPr>
        <p:spPr>
          <a:xfrm>
            <a:off x="457200" y="320040"/>
            <a:ext cx="548640" cy="548640"/>
          </a:xfrm>
          <a:prstGeom prst="rect">
            <a:avLst/>
          </a:prstGeom>
          <a:noFill/>
          <a:ln/>
        </p:spPr>
        <p:txBody>
          <a:bodyPr wrap="square" lIns="0" tIns="0" rIns="0" bIns="0" rtlCol="0" anchor="ctr"/>
          <a:lstStyle/>
          <a:p>
            <a:pPr marL="0" indent="0" algn="ctr">
              <a:buNone/>
            </a:pPr>
            <a:r>
              <a:rPr lang="en-US" sz="1600" b="1" dirty="0">
                <a:solidFill>
                  <a:srgbClr val="1F3A5F"/>
                </a:solidFill>
                <a:latin typeface="Calibri" pitchFamily="34" charset="0"/>
                <a:ea typeface="Calibri" pitchFamily="34" charset="-122"/>
                <a:cs typeface="Calibri" pitchFamily="34" charset="-120"/>
              </a:rPr>
              <a:t>03</a:t>
            </a:r>
            <a:endParaRPr lang="en-US" sz="1600" dirty="0"/>
          </a:p>
        </p:txBody>
      </p:sp>
      <p:sp>
        <p:nvSpPr>
          <p:cNvPr id="4" name="Text 2"/>
          <p:cNvSpPr txBox="1"/>
          <p:nvPr/>
        </p:nvSpPr>
        <p:spPr>
          <a:xfrm>
            <a:off x="1188720" y="274320"/>
            <a:ext cx="7498080" cy="457200"/>
          </a:xfrm>
          <a:prstGeom prst="rect">
            <a:avLst/>
          </a:prstGeom>
          <a:noFill/>
          <a:ln/>
        </p:spPr>
        <p:txBody>
          <a:bodyPr wrap="square" lIns="0" tIns="0" rIns="0" bIns="0" rtlCol="0" anchor="ctr"/>
          <a:lstStyle/>
          <a:p>
            <a:pPr marL="0" indent="0">
              <a:buNone/>
            </a:pPr>
            <a:r>
              <a:rPr lang="en-US" sz="2800" b="1" dirty="0">
                <a:solidFill>
                  <a:srgbClr val="1F3A5F"/>
                </a:solidFill>
                <a:latin typeface="Calibri" pitchFamily="34" charset="0"/>
                <a:ea typeface="Calibri" pitchFamily="34" charset="-122"/>
                <a:cs typeface="Calibri" pitchFamily="34" charset="-120"/>
              </a:rPr>
              <a:t>Communication failure</a:t>
            </a:r>
            <a:endParaRPr lang="en-US" sz="2800" dirty="0"/>
          </a:p>
        </p:txBody>
      </p:sp>
      <p:sp>
        <p:nvSpPr>
          <p:cNvPr id="5" name="Text 3"/>
          <p:cNvSpPr txBox="1"/>
          <p:nvPr/>
        </p:nvSpPr>
        <p:spPr>
          <a:xfrm>
            <a:off x="1188720" y="713232"/>
            <a:ext cx="7498080" cy="274320"/>
          </a:xfrm>
          <a:prstGeom prst="rect">
            <a:avLst/>
          </a:prstGeom>
          <a:noFill/>
          <a:ln/>
        </p:spPr>
        <p:txBody>
          <a:bodyPr wrap="square" lIns="0" tIns="0" rIns="0" bIns="0" rtlCol="0" anchor="ctr"/>
          <a:lstStyle/>
          <a:p>
            <a:pPr marL="0" indent="0">
              <a:buNone/>
            </a:pPr>
            <a:r>
              <a:rPr lang="en-US" sz="1400" dirty="0">
                <a:solidFill>
                  <a:srgbClr val="3F7CAC"/>
                </a:solidFill>
                <a:latin typeface="Calibri" pitchFamily="34" charset="0"/>
                <a:ea typeface="Calibri" pitchFamily="34" charset="-122"/>
                <a:cs typeface="Calibri" pitchFamily="34" charset="-120"/>
              </a:rPr>
              <a:t>DNS not responding: website cannot be opened, network is healthy</a:t>
            </a:r>
            <a:endParaRPr lang="en-US" sz="14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rgbClr val="7A8CA3"/>
                </a:solidFill>
                <a:latin typeface="Calibri" pitchFamily="34" charset="0"/>
                <a:ea typeface="Calibri" pitchFamily="34" charset="-122"/>
                <a:cs typeface="Calibri" pitchFamily="34" charset="-120"/>
              </a:rPr>
              <a:t>TEAM-08  |  TCP IP Communication in Action</a:t>
            </a:r>
            <a:endParaRPr lang="en-US" sz="1000" dirty="0"/>
          </a:p>
        </p:txBody>
      </p:sp>
      <p:sp>
        <p:nvSpPr>
          <p:cNvPr id="7" name="Text 5"/>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1000" dirty="0">
                <a:solidFill>
                  <a:srgbClr val="7A8CA3"/>
                </a:solidFill>
                <a:latin typeface="Calibri" pitchFamily="34" charset="0"/>
                <a:ea typeface="Calibri" pitchFamily="34" charset="-122"/>
                <a:cs typeface="Calibri" pitchFamily="34" charset="-120"/>
              </a:rPr>
              <a:t>03 / 04</a:t>
            </a:r>
            <a:endParaRPr lang="en-US" sz="1000" dirty="0"/>
          </a:p>
        </p:txBody>
      </p:sp>
      <p:sp>
        <p:nvSpPr>
          <p:cNvPr id="8" name="Shape 6"/>
          <p:cNvSpPr/>
          <p:nvPr/>
        </p:nvSpPr>
        <p:spPr>
          <a:xfrm>
            <a:off x="457200" y="1234440"/>
            <a:ext cx="3931920" cy="3429000"/>
          </a:xfrm>
          <a:prstGeom prst="roundRect">
            <a:avLst>
              <a:gd name="adj" fmla="val 2133"/>
            </a:avLst>
          </a:prstGeom>
          <a:solidFill>
            <a:srgbClr val="EEF4FA"/>
          </a:solidFill>
          <a:ln w="12700">
            <a:solidFill>
              <a:srgbClr val="DCE8F4"/>
            </a:solidFill>
            <a:prstDash val="solid"/>
          </a:ln>
        </p:spPr>
        <p:txBody>
          <a:bodyPr/>
          <a:lstStyle/>
          <a:p>
            <a:endParaRPr lang="en-US"/>
          </a:p>
        </p:txBody>
      </p:sp>
      <p:sp>
        <p:nvSpPr>
          <p:cNvPr id="9" name="Text 7"/>
          <p:cNvSpPr txBox="1"/>
          <p:nvPr/>
        </p:nvSpPr>
        <p:spPr>
          <a:xfrm>
            <a:off x="685800" y="1371600"/>
            <a:ext cx="3474720" cy="365760"/>
          </a:xfrm>
          <a:prstGeom prst="rect">
            <a:avLst/>
          </a:prstGeom>
          <a:noFill/>
          <a:ln/>
        </p:spPr>
        <p:txBody>
          <a:bodyPr wrap="square" lIns="0" tIns="0" rIns="0" bIns="0" rtlCol="0" anchor="ctr"/>
          <a:lstStyle/>
          <a:p>
            <a:pPr marL="0" indent="0">
              <a:buNone/>
            </a:pPr>
            <a:r>
              <a:rPr lang="en-US" sz="2000" b="1" dirty="0">
                <a:solidFill>
                  <a:srgbClr val="1F3A5F"/>
                </a:solidFill>
                <a:latin typeface="Calibri" pitchFamily="34" charset="0"/>
                <a:ea typeface="Calibri" pitchFamily="34" charset="-122"/>
                <a:cs typeface="Calibri" pitchFamily="34" charset="-120"/>
              </a:rPr>
              <a:t>What happened</a:t>
            </a:r>
            <a:endParaRPr lang="en-US" sz="2000" dirty="0"/>
          </a:p>
        </p:txBody>
      </p:sp>
      <p:sp>
        <p:nvSpPr>
          <p:cNvPr id="10" name="Text 8"/>
          <p:cNvSpPr txBox="1"/>
          <p:nvPr/>
        </p:nvSpPr>
        <p:spPr>
          <a:xfrm>
            <a:off x="685800" y="1828800"/>
            <a:ext cx="3474720" cy="2743200"/>
          </a:xfrm>
          <a:prstGeom prst="rect">
            <a:avLst/>
          </a:prstGeom>
          <a:noFill/>
          <a:ln/>
        </p:spPr>
        <p:txBody>
          <a:bodyPr wrap="square" lIns="0" tIns="0" rIns="0" bIns="0" rtlCol="0" anchor="t"/>
          <a:lstStyle/>
          <a:p>
            <a:pPr marL="342900" indent="-342900">
              <a:spcAft>
                <a:spcPts val="1000"/>
              </a:spcAft>
              <a:buSzPct val="100000"/>
              <a:buChar char="•"/>
            </a:pPr>
            <a:r>
              <a:rPr lang="en-US" sz="1400" b="1" dirty="0">
                <a:solidFill>
                  <a:srgbClr val="1F3A5F"/>
                </a:solidFill>
                <a:latin typeface="Calibri" pitchFamily="34" charset="0"/>
                <a:ea typeface="Calibri" pitchFamily="34" charset="-122"/>
                <a:cs typeface="Calibri" pitchFamily="34" charset="-120"/>
              </a:rPr>
              <a:t>Symptom: </a:t>
            </a:r>
            <a:r>
              <a:rPr lang="en-US" sz="1400" dirty="0">
                <a:solidFill>
                  <a:srgbClr val="44546A"/>
                </a:solidFill>
                <a:latin typeface="Calibri" pitchFamily="34" charset="0"/>
                <a:ea typeface="Calibri" pitchFamily="34" charset="-122"/>
                <a:cs typeface="Calibri" pitchFamily="34" charset="-120"/>
              </a:rPr>
              <a:t>"Could not resolve host: x.com"</a:t>
            </a:r>
            <a:endParaRPr lang="en-US" sz="1400" dirty="0"/>
          </a:p>
          <a:p>
            <a:pPr marL="342900" indent="-342900">
              <a:spcAft>
                <a:spcPts val="1000"/>
              </a:spcAft>
              <a:buSzPct val="100000"/>
              <a:buChar char="•"/>
            </a:pPr>
            <a:r>
              <a:rPr lang="en-US" sz="1400" b="1" dirty="0">
                <a:solidFill>
                  <a:srgbClr val="1F3A5F"/>
                </a:solidFill>
                <a:latin typeface="Calibri" pitchFamily="34" charset="0"/>
                <a:ea typeface="Calibri" pitchFamily="34" charset="-122"/>
                <a:cs typeface="Calibri" pitchFamily="34" charset="-120"/>
              </a:rPr>
              <a:t>Cause: </a:t>
            </a:r>
            <a:r>
              <a:rPr lang="en-US" sz="1400" dirty="0">
                <a:solidFill>
                  <a:srgbClr val="44546A"/>
                </a:solidFill>
                <a:latin typeface="Calibri" pitchFamily="34" charset="0"/>
                <a:ea typeface="Calibri" pitchFamily="34" charset="-122"/>
                <a:cs typeface="Calibri" pitchFamily="34" charset="-120"/>
              </a:rPr>
              <a:t>DNS server set to 192.0.2.1, where nothing answers</a:t>
            </a:r>
            <a:endParaRPr lang="en-US" sz="1400" dirty="0"/>
          </a:p>
          <a:p>
            <a:pPr marL="342900" indent="-342900">
              <a:spcAft>
                <a:spcPts val="1000"/>
              </a:spcAft>
              <a:buSzPct val="100000"/>
              <a:buChar char="•"/>
            </a:pPr>
            <a:r>
              <a:rPr lang="en-US" sz="1400" b="1" dirty="0">
                <a:solidFill>
                  <a:srgbClr val="1F3A5F"/>
                </a:solidFill>
                <a:latin typeface="Calibri" pitchFamily="34" charset="0"/>
                <a:ea typeface="Calibri" pitchFamily="34" charset="-122"/>
                <a:cs typeface="Calibri" pitchFamily="34" charset="-120"/>
              </a:rPr>
              <a:t>Layer: </a:t>
            </a:r>
            <a:r>
              <a:rPr lang="en-US" sz="1400" dirty="0">
                <a:solidFill>
                  <a:srgbClr val="44546A"/>
                </a:solidFill>
                <a:latin typeface="Calibri" pitchFamily="34" charset="0"/>
                <a:ea typeface="Calibri" pitchFamily="34" charset="-122"/>
                <a:cs typeface="Calibri" pitchFamily="34" charset="-120"/>
              </a:rPr>
              <a:t>Application (DNS over UDP port 53)</a:t>
            </a:r>
            <a:endParaRPr lang="en-US" sz="1400" dirty="0"/>
          </a:p>
          <a:p>
            <a:pPr marL="342900" indent="-342900">
              <a:spcAft>
                <a:spcPts val="1000"/>
              </a:spcAft>
              <a:buSzPct val="100000"/>
              <a:buChar char="•"/>
            </a:pPr>
            <a:r>
              <a:rPr lang="en-US" sz="1400" b="1" dirty="0">
                <a:solidFill>
                  <a:srgbClr val="1F3A5F"/>
                </a:solidFill>
                <a:latin typeface="Calibri" pitchFamily="34" charset="0"/>
                <a:ea typeface="Calibri" pitchFamily="34" charset="-122"/>
                <a:cs typeface="Calibri" pitchFamily="34" charset="-120"/>
              </a:rPr>
              <a:t>Key clue: </a:t>
            </a:r>
            <a:r>
              <a:rPr lang="en-US" sz="1400" dirty="0">
                <a:solidFill>
                  <a:srgbClr val="44546A"/>
                </a:solidFill>
                <a:latin typeface="Calibri" pitchFamily="34" charset="0"/>
                <a:ea typeface="Calibri" pitchFamily="34" charset="-122"/>
                <a:cs typeface="Calibri" pitchFamily="34" charset="-120"/>
              </a:rPr>
              <a:t>ping 8.8.8.8 still works, so IP and routing are fine</a:t>
            </a:r>
            <a:endParaRPr lang="en-US" sz="1400" dirty="0"/>
          </a:p>
        </p:txBody>
      </p:sp>
      <p:sp>
        <p:nvSpPr>
          <p:cNvPr id="11" name="Text 9"/>
          <p:cNvSpPr txBox="1"/>
          <p:nvPr/>
        </p:nvSpPr>
        <p:spPr>
          <a:xfrm>
            <a:off x="4663440" y="1234440"/>
            <a:ext cx="4023360" cy="228600"/>
          </a:xfrm>
          <a:prstGeom prst="rect">
            <a:avLst/>
          </a:prstGeom>
          <a:noFill/>
          <a:ln/>
        </p:spPr>
        <p:txBody>
          <a:bodyPr wrap="square" lIns="0" tIns="0" rIns="0" bIns="0" rtlCol="0" anchor="ctr"/>
          <a:lstStyle/>
          <a:p>
            <a:pPr marL="0" indent="0">
              <a:buNone/>
            </a:pPr>
            <a:r>
              <a:rPr lang="en-US" sz="1100" i="1" dirty="0">
                <a:solidFill>
                  <a:srgbClr val="44546A"/>
                </a:solidFill>
                <a:latin typeface="Calibri" pitchFamily="34" charset="0"/>
                <a:ea typeface="Calibri" pitchFamily="34" charset="-122"/>
                <a:cs typeface="Calibri" pitchFamily="34" charset="-120"/>
              </a:rPr>
              <a:t>Error seen by the user</a:t>
            </a:r>
            <a:endParaRPr lang="en-US" sz="1100" dirty="0"/>
          </a:p>
        </p:txBody>
      </p:sp>
      <p:pic>
        <p:nvPicPr>
          <p:cNvPr id="12" name="Image 0" descr="/home/claude/ss/word/media/image20.png"/>
          <p:cNvPicPr>
            <a:picLocks noChangeAspect="1"/>
          </p:cNvPicPr>
          <p:nvPr/>
        </p:nvPicPr>
        <p:blipFill>
          <a:blip r:embed="rId3"/>
          <a:stretch>
            <a:fillRect/>
          </a:stretch>
        </p:blipFill>
        <p:spPr>
          <a:xfrm>
            <a:off x="4663440" y="1508760"/>
            <a:ext cx="4023360" cy="649224"/>
          </a:xfrm>
          <a:prstGeom prst="rect">
            <a:avLst/>
          </a:prstGeom>
        </p:spPr>
      </p:pic>
      <p:sp>
        <p:nvSpPr>
          <p:cNvPr id="13" name="Text 10"/>
          <p:cNvSpPr txBox="1"/>
          <p:nvPr/>
        </p:nvSpPr>
        <p:spPr>
          <a:xfrm>
            <a:off x="4663440" y="2286000"/>
            <a:ext cx="4023360" cy="228600"/>
          </a:xfrm>
          <a:prstGeom prst="rect">
            <a:avLst/>
          </a:prstGeom>
          <a:noFill/>
          <a:ln/>
        </p:spPr>
        <p:txBody>
          <a:bodyPr wrap="square" lIns="0" tIns="0" rIns="0" bIns="0" rtlCol="0" anchor="ctr"/>
          <a:lstStyle/>
          <a:p>
            <a:pPr marL="0" indent="0">
              <a:buNone/>
            </a:pPr>
            <a:r>
              <a:rPr lang="en-US" sz="1100" i="1" dirty="0">
                <a:solidFill>
                  <a:srgbClr val="44546A"/>
                </a:solidFill>
                <a:latin typeface="Calibri" pitchFamily="34" charset="0"/>
                <a:ea typeface="Calibri" pitchFamily="34" charset="-122"/>
                <a:cs typeface="Calibri" pitchFamily="34" charset="-120"/>
              </a:rPr>
              <a:t>Wireshark: repeated DNS queries to 192.0.2.1, no reply</a:t>
            </a:r>
            <a:endParaRPr lang="en-US" sz="1100" dirty="0"/>
          </a:p>
        </p:txBody>
      </p:sp>
      <p:pic>
        <p:nvPicPr>
          <p:cNvPr id="14" name="Image 1" descr="/home/claude/ss/word/media/image22.png"/>
          <p:cNvPicPr>
            <a:picLocks noChangeAspect="1"/>
          </p:cNvPicPr>
          <p:nvPr/>
        </p:nvPicPr>
        <p:blipFill>
          <a:blip r:embed="rId4"/>
          <a:stretch>
            <a:fillRect/>
          </a:stretch>
        </p:blipFill>
        <p:spPr>
          <a:xfrm>
            <a:off x="4663440" y="2560320"/>
            <a:ext cx="4023360" cy="868680"/>
          </a:xfrm>
          <a:prstGeom prst="rect">
            <a:avLst/>
          </a:prstGeom>
        </p:spPr>
      </p:pic>
      <p:sp>
        <p:nvSpPr>
          <p:cNvPr id="15" name="Shape 11"/>
          <p:cNvSpPr/>
          <p:nvPr/>
        </p:nvSpPr>
        <p:spPr>
          <a:xfrm>
            <a:off x="4663440" y="3611880"/>
            <a:ext cx="4023360" cy="1051560"/>
          </a:xfrm>
          <a:prstGeom prst="roundRect">
            <a:avLst>
              <a:gd name="adj" fmla="val 6957"/>
            </a:avLst>
          </a:prstGeom>
          <a:solidFill>
            <a:srgbClr val="DCE8F4"/>
          </a:solidFill>
          <a:ln w="12700">
            <a:solidFill>
              <a:srgbClr val="DCE8F4"/>
            </a:solidFill>
            <a:prstDash val="solid"/>
          </a:ln>
        </p:spPr>
        <p:txBody>
          <a:bodyPr/>
          <a:lstStyle/>
          <a:p>
            <a:endParaRPr lang="en-US"/>
          </a:p>
        </p:txBody>
      </p:sp>
      <p:sp>
        <p:nvSpPr>
          <p:cNvPr id="16" name="Text 12"/>
          <p:cNvSpPr txBox="1"/>
          <p:nvPr/>
        </p:nvSpPr>
        <p:spPr>
          <a:xfrm>
            <a:off x="4846320" y="3657600"/>
            <a:ext cx="3657600" cy="960120"/>
          </a:xfrm>
          <a:prstGeom prst="rect">
            <a:avLst/>
          </a:prstGeom>
          <a:noFill/>
          <a:ln/>
        </p:spPr>
        <p:txBody>
          <a:bodyPr wrap="square" lIns="0" tIns="0" rIns="0" bIns="0" rtlCol="0" anchor="ctr"/>
          <a:lstStyle/>
          <a:p>
            <a:pPr marL="0" indent="0">
              <a:buNone/>
            </a:pPr>
            <a:r>
              <a:rPr lang="en-US" sz="1300" b="1" dirty="0">
                <a:solidFill>
                  <a:srgbClr val="1F3A5F"/>
                </a:solidFill>
                <a:latin typeface="Calibri" pitchFamily="34" charset="0"/>
                <a:ea typeface="Calibri" pitchFamily="34" charset="-122"/>
                <a:cs typeface="Calibri" pitchFamily="34" charset="-120"/>
              </a:rPr>
              <a:t>Second test, port 444 blocked: </a:t>
            </a:r>
            <a:r>
              <a:rPr lang="en-US" sz="1300" dirty="0">
                <a:solidFill>
                  <a:srgbClr val="44546A"/>
                </a:solidFill>
                <a:latin typeface="Calibri" pitchFamily="34" charset="0"/>
                <a:ea typeface="Calibri" pitchFamily="34" charset="-122"/>
                <a:cs typeface="Calibri" pitchFamily="34" charset="-120"/>
              </a:rPr>
              <a:t>SYN sent and retransmitted 4 times, never answered. A firewall is likely dropping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DCE8F4"/>
          </a:solidFill>
          <a:ln w="12700">
            <a:solidFill>
              <a:srgbClr val="DCE8F4"/>
            </a:solidFill>
            <a:prstDash val="solid"/>
          </a:ln>
        </p:spPr>
        <p:txBody>
          <a:bodyPr/>
          <a:lstStyle/>
          <a:p>
            <a:endParaRPr lang="en-US"/>
          </a:p>
        </p:txBody>
      </p:sp>
      <p:sp>
        <p:nvSpPr>
          <p:cNvPr id="3" name="Text 1"/>
          <p:cNvSpPr txBox="1"/>
          <p:nvPr/>
        </p:nvSpPr>
        <p:spPr>
          <a:xfrm>
            <a:off x="457200" y="320040"/>
            <a:ext cx="548640" cy="548640"/>
          </a:xfrm>
          <a:prstGeom prst="rect">
            <a:avLst/>
          </a:prstGeom>
          <a:noFill/>
          <a:ln/>
        </p:spPr>
        <p:txBody>
          <a:bodyPr wrap="square" lIns="0" tIns="0" rIns="0" bIns="0" rtlCol="0" anchor="ctr"/>
          <a:lstStyle/>
          <a:p>
            <a:pPr marL="0" indent="0" algn="ctr">
              <a:buNone/>
            </a:pPr>
            <a:r>
              <a:rPr lang="en-US" sz="1600" b="1" dirty="0">
                <a:solidFill>
                  <a:srgbClr val="1F3A5F"/>
                </a:solidFill>
                <a:latin typeface="Calibri" pitchFamily="34" charset="0"/>
                <a:ea typeface="Calibri" pitchFamily="34" charset="-122"/>
                <a:cs typeface="Calibri" pitchFamily="34" charset="-120"/>
              </a:rPr>
              <a:t>04</a:t>
            </a:r>
            <a:endParaRPr lang="en-US" sz="1600" dirty="0"/>
          </a:p>
        </p:txBody>
      </p:sp>
      <p:sp>
        <p:nvSpPr>
          <p:cNvPr id="4" name="Text 2"/>
          <p:cNvSpPr txBox="1"/>
          <p:nvPr/>
        </p:nvSpPr>
        <p:spPr>
          <a:xfrm>
            <a:off x="1188720" y="274320"/>
            <a:ext cx="7498080" cy="457200"/>
          </a:xfrm>
          <a:prstGeom prst="rect">
            <a:avLst/>
          </a:prstGeom>
          <a:noFill/>
          <a:ln/>
        </p:spPr>
        <p:txBody>
          <a:bodyPr wrap="square" lIns="0" tIns="0" rIns="0" bIns="0" rtlCol="0" anchor="ctr"/>
          <a:lstStyle/>
          <a:p>
            <a:pPr marL="0" indent="0">
              <a:buNone/>
            </a:pPr>
            <a:r>
              <a:rPr lang="en-US" sz="2800" b="1" dirty="0">
                <a:solidFill>
                  <a:srgbClr val="1F3A5F"/>
                </a:solidFill>
                <a:latin typeface="Calibri" pitchFamily="34" charset="0"/>
                <a:ea typeface="Calibri" pitchFamily="34" charset="-122"/>
                <a:cs typeface="Calibri" pitchFamily="34" charset="-120"/>
              </a:rPr>
              <a:t>Troubleshooting procedure</a:t>
            </a:r>
            <a:endParaRPr lang="en-US" sz="2800" dirty="0"/>
          </a:p>
        </p:txBody>
      </p:sp>
      <p:sp>
        <p:nvSpPr>
          <p:cNvPr id="5" name="Text 3"/>
          <p:cNvSpPr txBox="1"/>
          <p:nvPr/>
        </p:nvSpPr>
        <p:spPr>
          <a:xfrm>
            <a:off x="1188720" y="713232"/>
            <a:ext cx="7498080" cy="274320"/>
          </a:xfrm>
          <a:prstGeom prst="rect">
            <a:avLst/>
          </a:prstGeom>
          <a:noFill/>
          <a:ln/>
        </p:spPr>
        <p:txBody>
          <a:bodyPr wrap="square" lIns="0" tIns="0" rIns="0" bIns="0" rtlCol="0" anchor="ctr"/>
          <a:lstStyle/>
          <a:p>
            <a:pPr marL="0" indent="0">
              <a:buNone/>
            </a:pPr>
            <a:r>
              <a:rPr lang="en-US" sz="1400" dirty="0">
                <a:solidFill>
                  <a:srgbClr val="3F7CAC"/>
                </a:solidFill>
                <a:latin typeface="Calibri" pitchFamily="34" charset="0"/>
                <a:ea typeface="Calibri" pitchFamily="34" charset="-122"/>
                <a:cs typeface="Calibri" pitchFamily="34" charset="-120"/>
              </a:rPr>
              <a:t>Bottom-up: test one layer at a time, then fix and verify</a:t>
            </a:r>
            <a:endParaRPr lang="en-US" sz="14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rgbClr val="7A8CA3"/>
                </a:solidFill>
                <a:latin typeface="Calibri" pitchFamily="34" charset="0"/>
                <a:ea typeface="Calibri" pitchFamily="34" charset="-122"/>
                <a:cs typeface="Calibri" pitchFamily="34" charset="-120"/>
              </a:rPr>
              <a:t>TEAM-08  |  TCP IP Communication in Action</a:t>
            </a:r>
            <a:endParaRPr lang="en-US" sz="1000" dirty="0"/>
          </a:p>
        </p:txBody>
      </p:sp>
      <p:sp>
        <p:nvSpPr>
          <p:cNvPr id="7" name="Text 5"/>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1000" dirty="0">
                <a:solidFill>
                  <a:srgbClr val="7A8CA3"/>
                </a:solidFill>
                <a:latin typeface="Calibri" pitchFamily="34" charset="0"/>
                <a:ea typeface="Calibri" pitchFamily="34" charset="-122"/>
                <a:cs typeface="Calibri" pitchFamily="34" charset="-120"/>
              </a:rPr>
              <a:t>04 / 04</a:t>
            </a:r>
            <a:endParaRPr lang="en-US" sz="1000" dirty="0"/>
          </a:p>
        </p:txBody>
      </p:sp>
      <p:sp>
        <p:nvSpPr>
          <p:cNvPr id="8" name="Shape 6"/>
          <p:cNvSpPr/>
          <p:nvPr/>
        </p:nvSpPr>
        <p:spPr>
          <a:xfrm>
            <a:off x="457200" y="1234440"/>
            <a:ext cx="2651760" cy="1280160"/>
          </a:xfrm>
          <a:prstGeom prst="roundRect">
            <a:avLst>
              <a:gd name="adj" fmla="val 5714"/>
            </a:avLst>
          </a:prstGeom>
          <a:solidFill>
            <a:srgbClr val="EEF4FA"/>
          </a:solidFill>
          <a:ln w="12700">
            <a:solidFill>
              <a:srgbClr val="DCE8F4"/>
            </a:solidFill>
            <a:prstDash val="solid"/>
          </a:ln>
        </p:spPr>
        <p:txBody>
          <a:bodyPr/>
          <a:lstStyle/>
          <a:p>
            <a:endParaRPr lang="en-US"/>
          </a:p>
        </p:txBody>
      </p:sp>
      <p:sp>
        <p:nvSpPr>
          <p:cNvPr id="9" name="Shape 7"/>
          <p:cNvSpPr/>
          <p:nvPr/>
        </p:nvSpPr>
        <p:spPr>
          <a:xfrm>
            <a:off x="594360" y="1371600"/>
            <a:ext cx="365760" cy="365760"/>
          </a:xfrm>
          <a:prstGeom prst="ellipse">
            <a:avLst/>
          </a:prstGeom>
          <a:solidFill>
            <a:srgbClr val="3F7CAC"/>
          </a:solidFill>
          <a:ln w="12700">
            <a:solidFill>
              <a:srgbClr val="3F7CAC"/>
            </a:solidFill>
            <a:prstDash val="solid"/>
          </a:ln>
        </p:spPr>
        <p:txBody>
          <a:bodyPr/>
          <a:lstStyle/>
          <a:p>
            <a:endParaRPr lang="en-US"/>
          </a:p>
        </p:txBody>
      </p:sp>
      <p:sp>
        <p:nvSpPr>
          <p:cNvPr id="10" name="Text 8"/>
          <p:cNvSpPr txBox="1"/>
          <p:nvPr/>
        </p:nvSpPr>
        <p:spPr>
          <a:xfrm>
            <a:off x="594360" y="13716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078992" y="1371600"/>
            <a:ext cx="1920240" cy="365760"/>
          </a:xfrm>
          <a:prstGeom prst="rect">
            <a:avLst/>
          </a:prstGeom>
          <a:noFill/>
          <a:ln/>
        </p:spPr>
        <p:txBody>
          <a:bodyPr wrap="square" lIns="0" tIns="0" rIns="0" bIns="0" rtlCol="0" anchor="ctr"/>
          <a:lstStyle/>
          <a:p>
            <a:pPr marL="0" indent="0">
              <a:buNone/>
            </a:pPr>
            <a:r>
              <a:rPr lang="en-US" sz="1400" b="1" dirty="0">
                <a:solidFill>
                  <a:srgbClr val="1F3A5F"/>
                </a:solidFill>
                <a:latin typeface="Calibri" pitchFamily="34" charset="0"/>
                <a:ea typeface="Calibri" pitchFamily="34" charset="-122"/>
                <a:cs typeface="Calibri" pitchFamily="34" charset="-120"/>
              </a:rPr>
              <a:t>Record the symptom</a:t>
            </a:r>
            <a:endParaRPr lang="en-US" sz="1400" dirty="0"/>
          </a:p>
        </p:txBody>
      </p:sp>
      <p:sp>
        <p:nvSpPr>
          <p:cNvPr id="12" name="Text 10"/>
          <p:cNvSpPr txBox="1"/>
          <p:nvPr/>
        </p:nvSpPr>
        <p:spPr>
          <a:xfrm>
            <a:off x="594360" y="1874520"/>
            <a:ext cx="2377440" cy="548640"/>
          </a:xfrm>
          <a:prstGeom prst="rect">
            <a:avLst/>
          </a:prstGeom>
          <a:noFill/>
          <a:ln/>
        </p:spPr>
        <p:txBody>
          <a:bodyPr wrap="square" lIns="0" tIns="0" rIns="0" bIns="0" rtlCol="0" anchor="t"/>
          <a:lstStyle/>
          <a:p>
            <a:pPr marL="0" indent="0">
              <a:buNone/>
            </a:pPr>
            <a:r>
              <a:rPr lang="en-US" sz="1200" dirty="0">
                <a:solidFill>
                  <a:srgbClr val="44546A"/>
                </a:solidFill>
                <a:latin typeface="Calibri" pitchFamily="34" charset="0"/>
                <a:ea typeface="Calibri" pitchFamily="34" charset="-122"/>
                <a:cs typeface="Calibri" pitchFamily="34" charset="-120"/>
              </a:rPr>
              <a:t>Website fails with "Could not resolve host"</a:t>
            </a:r>
            <a:endParaRPr lang="en-US" sz="1200" dirty="0"/>
          </a:p>
        </p:txBody>
      </p:sp>
      <p:sp>
        <p:nvSpPr>
          <p:cNvPr id="13" name="Shape 11"/>
          <p:cNvSpPr/>
          <p:nvPr/>
        </p:nvSpPr>
        <p:spPr>
          <a:xfrm>
            <a:off x="3246120" y="1234440"/>
            <a:ext cx="2651760" cy="1280160"/>
          </a:xfrm>
          <a:prstGeom prst="roundRect">
            <a:avLst>
              <a:gd name="adj" fmla="val 5714"/>
            </a:avLst>
          </a:prstGeom>
          <a:solidFill>
            <a:srgbClr val="EEF4FA"/>
          </a:solidFill>
          <a:ln w="12700">
            <a:solidFill>
              <a:srgbClr val="DCE8F4"/>
            </a:solidFill>
            <a:prstDash val="solid"/>
          </a:ln>
        </p:spPr>
        <p:txBody>
          <a:bodyPr/>
          <a:lstStyle/>
          <a:p>
            <a:endParaRPr lang="en-US"/>
          </a:p>
        </p:txBody>
      </p:sp>
      <p:sp>
        <p:nvSpPr>
          <p:cNvPr id="14" name="Shape 12"/>
          <p:cNvSpPr/>
          <p:nvPr/>
        </p:nvSpPr>
        <p:spPr>
          <a:xfrm>
            <a:off x="3383280" y="1371600"/>
            <a:ext cx="365760" cy="365760"/>
          </a:xfrm>
          <a:prstGeom prst="ellipse">
            <a:avLst/>
          </a:prstGeom>
          <a:solidFill>
            <a:srgbClr val="3F7CAC"/>
          </a:solidFill>
          <a:ln w="12700">
            <a:solidFill>
              <a:srgbClr val="3F7CAC"/>
            </a:solidFill>
            <a:prstDash val="solid"/>
          </a:ln>
        </p:spPr>
        <p:txBody>
          <a:bodyPr/>
          <a:lstStyle/>
          <a:p>
            <a:endParaRPr lang="en-US"/>
          </a:p>
        </p:txBody>
      </p:sp>
      <p:sp>
        <p:nvSpPr>
          <p:cNvPr id="15" name="Text 13"/>
          <p:cNvSpPr txBox="1"/>
          <p:nvPr/>
        </p:nvSpPr>
        <p:spPr>
          <a:xfrm>
            <a:off x="3383280" y="13716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3867912" y="1371600"/>
            <a:ext cx="1920240" cy="365760"/>
          </a:xfrm>
          <a:prstGeom prst="rect">
            <a:avLst/>
          </a:prstGeom>
          <a:noFill/>
          <a:ln/>
        </p:spPr>
        <p:txBody>
          <a:bodyPr wrap="square" lIns="0" tIns="0" rIns="0" bIns="0" rtlCol="0" anchor="ctr"/>
          <a:lstStyle/>
          <a:p>
            <a:pPr marL="0" indent="0">
              <a:buNone/>
            </a:pPr>
            <a:r>
              <a:rPr lang="en-US" sz="1400" b="1" dirty="0">
                <a:solidFill>
                  <a:srgbClr val="1F3A5F"/>
                </a:solidFill>
                <a:latin typeface="Calibri" pitchFamily="34" charset="0"/>
                <a:ea typeface="Calibri" pitchFamily="34" charset="-122"/>
                <a:cs typeface="Calibri" pitchFamily="34" charset="-120"/>
              </a:rPr>
              <a:t>ping 8.8.8.8</a:t>
            </a:r>
            <a:endParaRPr lang="en-US" sz="1400" dirty="0"/>
          </a:p>
        </p:txBody>
      </p:sp>
      <p:sp>
        <p:nvSpPr>
          <p:cNvPr id="17" name="Text 15"/>
          <p:cNvSpPr txBox="1"/>
          <p:nvPr/>
        </p:nvSpPr>
        <p:spPr>
          <a:xfrm>
            <a:off x="3383280" y="1874520"/>
            <a:ext cx="2377440" cy="548640"/>
          </a:xfrm>
          <a:prstGeom prst="rect">
            <a:avLst/>
          </a:prstGeom>
          <a:noFill/>
          <a:ln/>
        </p:spPr>
        <p:txBody>
          <a:bodyPr wrap="square" lIns="0" tIns="0" rIns="0" bIns="0" rtlCol="0" anchor="t"/>
          <a:lstStyle/>
          <a:p>
            <a:pPr marL="0" indent="0">
              <a:buNone/>
            </a:pPr>
            <a:r>
              <a:rPr lang="en-US" sz="1200" dirty="0">
                <a:solidFill>
                  <a:srgbClr val="44546A"/>
                </a:solidFill>
                <a:latin typeface="Calibri" pitchFamily="34" charset="0"/>
                <a:ea typeface="Calibri" pitchFamily="34" charset="-122"/>
                <a:cs typeface="Calibri" pitchFamily="34" charset="-120"/>
              </a:rPr>
              <a:t>Replies: internet and routing work</a:t>
            </a:r>
            <a:endParaRPr lang="en-US" sz="1200" dirty="0"/>
          </a:p>
        </p:txBody>
      </p:sp>
      <p:sp>
        <p:nvSpPr>
          <p:cNvPr id="18" name="Shape 16"/>
          <p:cNvSpPr/>
          <p:nvPr/>
        </p:nvSpPr>
        <p:spPr>
          <a:xfrm>
            <a:off x="6035040" y="1234440"/>
            <a:ext cx="2651760" cy="1280160"/>
          </a:xfrm>
          <a:prstGeom prst="roundRect">
            <a:avLst>
              <a:gd name="adj" fmla="val 5714"/>
            </a:avLst>
          </a:prstGeom>
          <a:solidFill>
            <a:srgbClr val="EEF4FA"/>
          </a:solidFill>
          <a:ln w="12700">
            <a:solidFill>
              <a:srgbClr val="DCE8F4"/>
            </a:solidFill>
            <a:prstDash val="solid"/>
          </a:ln>
        </p:spPr>
        <p:txBody>
          <a:bodyPr/>
          <a:lstStyle/>
          <a:p>
            <a:endParaRPr lang="en-US"/>
          </a:p>
        </p:txBody>
      </p:sp>
      <p:sp>
        <p:nvSpPr>
          <p:cNvPr id="19" name="Shape 17"/>
          <p:cNvSpPr/>
          <p:nvPr/>
        </p:nvSpPr>
        <p:spPr>
          <a:xfrm>
            <a:off x="6172200" y="1371600"/>
            <a:ext cx="365760" cy="365760"/>
          </a:xfrm>
          <a:prstGeom prst="ellipse">
            <a:avLst/>
          </a:prstGeom>
          <a:solidFill>
            <a:srgbClr val="3F7CAC"/>
          </a:solidFill>
          <a:ln w="12700">
            <a:solidFill>
              <a:srgbClr val="3F7CAC"/>
            </a:solidFill>
            <a:prstDash val="solid"/>
          </a:ln>
        </p:spPr>
        <p:txBody>
          <a:bodyPr/>
          <a:lstStyle/>
          <a:p>
            <a:endParaRPr lang="en-US"/>
          </a:p>
        </p:txBody>
      </p:sp>
      <p:sp>
        <p:nvSpPr>
          <p:cNvPr id="20" name="Text 18"/>
          <p:cNvSpPr txBox="1"/>
          <p:nvPr/>
        </p:nvSpPr>
        <p:spPr>
          <a:xfrm>
            <a:off x="6172200" y="13716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6656832" y="1371600"/>
            <a:ext cx="1920240" cy="365760"/>
          </a:xfrm>
          <a:prstGeom prst="rect">
            <a:avLst/>
          </a:prstGeom>
          <a:noFill/>
          <a:ln/>
        </p:spPr>
        <p:txBody>
          <a:bodyPr wrap="square" lIns="0" tIns="0" rIns="0" bIns="0" rtlCol="0" anchor="ctr"/>
          <a:lstStyle/>
          <a:p>
            <a:pPr marL="0" indent="0">
              <a:buNone/>
            </a:pPr>
            <a:r>
              <a:rPr lang="en-US" sz="1400" b="1" dirty="0">
                <a:solidFill>
                  <a:srgbClr val="1F3A5F"/>
                </a:solidFill>
                <a:latin typeface="Calibri" pitchFamily="34" charset="0"/>
                <a:ea typeface="Calibri" pitchFamily="34" charset="-122"/>
                <a:cs typeface="Calibri" pitchFamily="34" charset="-120"/>
              </a:rPr>
              <a:t>nslookup x.com</a:t>
            </a:r>
            <a:endParaRPr lang="en-US" sz="1400" dirty="0"/>
          </a:p>
        </p:txBody>
      </p:sp>
      <p:sp>
        <p:nvSpPr>
          <p:cNvPr id="22" name="Text 20"/>
          <p:cNvSpPr txBox="1"/>
          <p:nvPr/>
        </p:nvSpPr>
        <p:spPr>
          <a:xfrm>
            <a:off x="6172200" y="1874520"/>
            <a:ext cx="2377440" cy="548640"/>
          </a:xfrm>
          <a:prstGeom prst="rect">
            <a:avLst/>
          </a:prstGeom>
          <a:noFill/>
          <a:ln/>
        </p:spPr>
        <p:txBody>
          <a:bodyPr wrap="square" lIns="0" tIns="0" rIns="0" bIns="0" rtlCol="0" anchor="t"/>
          <a:lstStyle/>
          <a:p>
            <a:pPr marL="0" indent="0">
              <a:buNone/>
            </a:pPr>
            <a:r>
              <a:rPr lang="en-US" sz="1200" dirty="0">
                <a:solidFill>
                  <a:srgbClr val="44546A"/>
                </a:solidFill>
                <a:latin typeface="Calibri" pitchFamily="34" charset="0"/>
                <a:ea typeface="Calibri" pitchFamily="34" charset="-122"/>
                <a:cs typeface="Calibri" pitchFamily="34" charset="-120"/>
              </a:rPr>
              <a:t>Fails: name resolution is the fault</a:t>
            </a:r>
            <a:endParaRPr lang="en-US" sz="1200" dirty="0"/>
          </a:p>
        </p:txBody>
      </p:sp>
      <p:sp>
        <p:nvSpPr>
          <p:cNvPr id="23" name="Shape 21"/>
          <p:cNvSpPr/>
          <p:nvPr/>
        </p:nvSpPr>
        <p:spPr>
          <a:xfrm>
            <a:off x="457200" y="2651760"/>
            <a:ext cx="2651760" cy="1280160"/>
          </a:xfrm>
          <a:prstGeom prst="roundRect">
            <a:avLst>
              <a:gd name="adj" fmla="val 5714"/>
            </a:avLst>
          </a:prstGeom>
          <a:solidFill>
            <a:srgbClr val="EEF4FA"/>
          </a:solidFill>
          <a:ln w="12700">
            <a:solidFill>
              <a:srgbClr val="DCE8F4"/>
            </a:solidFill>
            <a:prstDash val="solid"/>
          </a:ln>
        </p:spPr>
        <p:txBody>
          <a:bodyPr/>
          <a:lstStyle/>
          <a:p>
            <a:endParaRPr lang="en-US"/>
          </a:p>
        </p:txBody>
      </p:sp>
      <p:sp>
        <p:nvSpPr>
          <p:cNvPr id="24" name="Shape 22"/>
          <p:cNvSpPr/>
          <p:nvPr/>
        </p:nvSpPr>
        <p:spPr>
          <a:xfrm>
            <a:off x="594360" y="2788920"/>
            <a:ext cx="365760" cy="365760"/>
          </a:xfrm>
          <a:prstGeom prst="ellipse">
            <a:avLst/>
          </a:prstGeom>
          <a:solidFill>
            <a:srgbClr val="3F7CAC"/>
          </a:solidFill>
          <a:ln w="12700">
            <a:solidFill>
              <a:srgbClr val="3F7CAC"/>
            </a:solidFill>
            <a:prstDash val="solid"/>
          </a:ln>
        </p:spPr>
        <p:txBody>
          <a:bodyPr/>
          <a:lstStyle/>
          <a:p>
            <a:endParaRPr lang="en-US"/>
          </a:p>
        </p:txBody>
      </p:sp>
      <p:sp>
        <p:nvSpPr>
          <p:cNvPr id="25" name="Text 23"/>
          <p:cNvSpPr txBox="1"/>
          <p:nvPr/>
        </p:nvSpPr>
        <p:spPr>
          <a:xfrm>
            <a:off x="594360" y="27889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1078992" y="2788920"/>
            <a:ext cx="1920240" cy="365760"/>
          </a:xfrm>
          <a:prstGeom prst="rect">
            <a:avLst/>
          </a:prstGeom>
          <a:noFill/>
          <a:ln/>
        </p:spPr>
        <p:txBody>
          <a:bodyPr wrap="square" lIns="0" tIns="0" rIns="0" bIns="0" rtlCol="0" anchor="ctr"/>
          <a:lstStyle/>
          <a:p>
            <a:pPr marL="0" indent="0">
              <a:buNone/>
            </a:pPr>
            <a:r>
              <a:rPr lang="en-US" sz="1400" b="1" dirty="0">
                <a:solidFill>
                  <a:srgbClr val="1F3A5F"/>
                </a:solidFill>
                <a:latin typeface="Calibri" pitchFamily="34" charset="0"/>
                <a:ea typeface="Calibri" pitchFamily="34" charset="-122"/>
                <a:cs typeface="Calibri" pitchFamily="34" charset="-120"/>
              </a:rPr>
              <a:t>ipconfig /all</a:t>
            </a:r>
            <a:endParaRPr lang="en-US" sz="1400" dirty="0"/>
          </a:p>
        </p:txBody>
      </p:sp>
      <p:sp>
        <p:nvSpPr>
          <p:cNvPr id="27" name="Text 25"/>
          <p:cNvSpPr txBox="1"/>
          <p:nvPr/>
        </p:nvSpPr>
        <p:spPr>
          <a:xfrm>
            <a:off x="594360" y="3291840"/>
            <a:ext cx="2377440" cy="548640"/>
          </a:xfrm>
          <a:prstGeom prst="rect">
            <a:avLst/>
          </a:prstGeom>
          <a:noFill/>
          <a:ln/>
        </p:spPr>
        <p:txBody>
          <a:bodyPr wrap="square" lIns="0" tIns="0" rIns="0" bIns="0" rtlCol="0" anchor="t"/>
          <a:lstStyle/>
          <a:p>
            <a:pPr marL="0" indent="0">
              <a:buNone/>
            </a:pPr>
            <a:r>
              <a:rPr lang="en-US" sz="1200" dirty="0">
                <a:solidFill>
                  <a:srgbClr val="44546A"/>
                </a:solidFill>
                <a:latin typeface="Calibri" pitchFamily="34" charset="0"/>
                <a:ea typeface="Calibri" pitchFamily="34" charset="-122"/>
                <a:cs typeface="Calibri" pitchFamily="34" charset="-120"/>
              </a:rPr>
              <a:t>DNS server is 192.0.2.1, not the router</a:t>
            </a:r>
            <a:endParaRPr lang="en-US" sz="1200" dirty="0"/>
          </a:p>
        </p:txBody>
      </p:sp>
      <p:sp>
        <p:nvSpPr>
          <p:cNvPr id="28" name="Shape 26"/>
          <p:cNvSpPr/>
          <p:nvPr/>
        </p:nvSpPr>
        <p:spPr>
          <a:xfrm>
            <a:off x="3246120" y="2651760"/>
            <a:ext cx="2651760" cy="1280160"/>
          </a:xfrm>
          <a:prstGeom prst="roundRect">
            <a:avLst>
              <a:gd name="adj" fmla="val 5714"/>
            </a:avLst>
          </a:prstGeom>
          <a:solidFill>
            <a:srgbClr val="EEF4FA"/>
          </a:solidFill>
          <a:ln w="12700">
            <a:solidFill>
              <a:srgbClr val="DCE8F4"/>
            </a:solidFill>
            <a:prstDash val="solid"/>
          </a:ln>
        </p:spPr>
        <p:txBody>
          <a:bodyPr/>
          <a:lstStyle/>
          <a:p>
            <a:endParaRPr lang="en-US"/>
          </a:p>
        </p:txBody>
      </p:sp>
      <p:sp>
        <p:nvSpPr>
          <p:cNvPr id="29" name="Shape 27"/>
          <p:cNvSpPr/>
          <p:nvPr/>
        </p:nvSpPr>
        <p:spPr>
          <a:xfrm>
            <a:off x="3383280" y="2788920"/>
            <a:ext cx="365760" cy="365760"/>
          </a:xfrm>
          <a:prstGeom prst="ellipse">
            <a:avLst/>
          </a:prstGeom>
          <a:solidFill>
            <a:srgbClr val="3F7CAC"/>
          </a:solidFill>
          <a:ln w="12700">
            <a:solidFill>
              <a:srgbClr val="3F7CAC"/>
            </a:solidFill>
            <a:prstDash val="solid"/>
          </a:ln>
        </p:spPr>
        <p:txBody>
          <a:bodyPr/>
          <a:lstStyle/>
          <a:p>
            <a:endParaRPr lang="en-US"/>
          </a:p>
        </p:txBody>
      </p:sp>
      <p:sp>
        <p:nvSpPr>
          <p:cNvPr id="30" name="Text 28"/>
          <p:cNvSpPr txBox="1"/>
          <p:nvPr/>
        </p:nvSpPr>
        <p:spPr>
          <a:xfrm>
            <a:off x="3383280" y="27889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txBox="1"/>
          <p:nvPr/>
        </p:nvSpPr>
        <p:spPr>
          <a:xfrm>
            <a:off x="3867912" y="2788920"/>
            <a:ext cx="1920240" cy="365760"/>
          </a:xfrm>
          <a:prstGeom prst="rect">
            <a:avLst/>
          </a:prstGeom>
          <a:noFill/>
          <a:ln/>
        </p:spPr>
        <p:txBody>
          <a:bodyPr wrap="square" lIns="0" tIns="0" rIns="0" bIns="0" rtlCol="0" anchor="ctr"/>
          <a:lstStyle/>
          <a:p>
            <a:pPr marL="0" indent="0">
              <a:buNone/>
            </a:pPr>
            <a:r>
              <a:rPr lang="en-US" sz="1400" b="1" dirty="0">
                <a:solidFill>
                  <a:srgbClr val="1F3A5F"/>
                </a:solidFill>
                <a:latin typeface="Calibri" pitchFamily="34" charset="0"/>
                <a:ea typeface="Calibri" pitchFamily="34" charset="-122"/>
                <a:cs typeface="Calibri" pitchFamily="34" charset="-120"/>
              </a:rPr>
              <a:t>Wireshark capture</a:t>
            </a:r>
            <a:endParaRPr lang="en-US" sz="1400" dirty="0"/>
          </a:p>
        </p:txBody>
      </p:sp>
      <p:sp>
        <p:nvSpPr>
          <p:cNvPr id="32" name="Text 30"/>
          <p:cNvSpPr txBox="1"/>
          <p:nvPr/>
        </p:nvSpPr>
        <p:spPr>
          <a:xfrm>
            <a:off x="3383280" y="3291840"/>
            <a:ext cx="2377440" cy="548640"/>
          </a:xfrm>
          <a:prstGeom prst="rect">
            <a:avLst/>
          </a:prstGeom>
          <a:noFill/>
          <a:ln/>
        </p:spPr>
        <p:txBody>
          <a:bodyPr wrap="square" lIns="0" tIns="0" rIns="0" bIns="0" rtlCol="0" anchor="t"/>
          <a:lstStyle/>
          <a:p>
            <a:pPr marL="0" indent="0">
              <a:buNone/>
            </a:pPr>
            <a:r>
              <a:rPr lang="en-US" sz="1200" dirty="0">
                <a:solidFill>
                  <a:srgbClr val="44546A"/>
                </a:solidFill>
                <a:latin typeface="Calibri" pitchFamily="34" charset="0"/>
                <a:ea typeface="Calibri" pitchFamily="34" charset="-122"/>
                <a:cs typeface="Calibri" pitchFamily="34" charset="-120"/>
              </a:rPr>
              <a:t>DNS queries sent, no replies</a:t>
            </a:r>
            <a:endParaRPr lang="en-US" sz="1200" dirty="0"/>
          </a:p>
        </p:txBody>
      </p:sp>
      <p:sp>
        <p:nvSpPr>
          <p:cNvPr id="33" name="Shape 31"/>
          <p:cNvSpPr/>
          <p:nvPr/>
        </p:nvSpPr>
        <p:spPr>
          <a:xfrm>
            <a:off x="6035040" y="2651760"/>
            <a:ext cx="2651760" cy="1280160"/>
          </a:xfrm>
          <a:prstGeom prst="roundRect">
            <a:avLst>
              <a:gd name="adj" fmla="val 5714"/>
            </a:avLst>
          </a:prstGeom>
          <a:solidFill>
            <a:srgbClr val="DCE8F4"/>
          </a:solidFill>
          <a:ln w="12700">
            <a:solidFill>
              <a:srgbClr val="DCE8F4"/>
            </a:solidFill>
            <a:prstDash val="solid"/>
          </a:ln>
        </p:spPr>
        <p:txBody>
          <a:bodyPr/>
          <a:lstStyle/>
          <a:p>
            <a:endParaRPr lang="en-US"/>
          </a:p>
        </p:txBody>
      </p:sp>
      <p:sp>
        <p:nvSpPr>
          <p:cNvPr id="34" name="Shape 32"/>
          <p:cNvSpPr/>
          <p:nvPr/>
        </p:nvSpPr>
        <p:spPr>
          <a:xfrm>
            <a:off x="6172200" y="2788920"/>
            <a:ext cx="365760" cy="365760"/>
          </a:xfrm>
          <a:prstGeom prst="ellipse">
            <a:avLst/>
          </a:prstGeom>
          <a:solidFill>
            <a:srgbClr val="3F7CAC"/>
          </a:solidFill>
          <a:ln w="12700">
            <a:solidFill>
              <a:srgbClr val="3F7CAC"/>
            </a:solidFill>
            <a:prstDash val="solid"/>
          </a:ln>
        </p:spPr>
        <p:txBody>
          <a:bodyPr/>
          <a:lstStyle/>
          <a:p>
            <a:endParaRPr lang="en-US"/>
          </a:p>
        </p:txBody>
      </p:sp>
      <p:sp>
        <p:nvSpPr>
          <p:cNvPr id="35" name="Text 33"/>
          <p:cNvSpPr txBox="1"/>
          <p:nvPr/>
        </p:nvSpPr>
        <p:spPr>
          <a:xfrm>
            <a:off x="6172200" y="27889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6" name="Text 34"/>
          <p:cNvSpPr txBox="1"/>
          <p:nvPr/>
        </p:nvSpPr>
        <p:spPr>
          <a:xfrm>
            <a:off x="6656832" y="2788920"/>
            <a:ext cx="1920240" cy="365760"/>
          </a:xfrm>
          <a:prstGeom prst="rect">
            <a:avLst/>
          </a:prstGeom>
          <a:noFill/>
          <a:ln/>
        </p:spPr>
        <p:txBody>
          <a:bodyPr wrap="square" lIns="0" tIns="0" rIns="0" bIns="0" rtlCol="0" anchor="ctr"/>
          <a:lstStyle/>
          <a:p>
            <a:pPr marL="0" indent="0">
              <a:buNone/>
            </a:pPr>
            <a:r>
              <a:rPr lang="en-US" sz="1400" b="1" dirty="0">
                <a:solidFill>
                  <a:srgbClr val="1F3A5F"/>
                </a:solidFill>
                <a:latin typeface="Calibri" pitchFamily="34" charset="0"/>
                <a:ea typeface="Calibri" pitchFamily="34" charset="-122"/>
                <a:cs typeface="Calibri" pitchFamily="34" charset="-120"/>
              </a:rPr>
              <a:t>Fix and verify</a:t>
            </a:r>
            <a:endParaRPr lang="en-US" sz="1400" dirty="0"/>
          </a:p>
        </p:txBody>
      </p:sp>
      <p:sp>
        <p:nvSpPr>
          <p:cNvPr id="37" name="Text 35"/>
          <p:cNvSpPr txBox="1"/>
          <p:nvPr/>
        </p:nvSpPr>
        <p:spPr>
          <a:xfrm>
            <a:off x="6172200" y="3291840"/>
            <a:ext cx="2377440" cy="548640"/>
          </a:xfrm>
          <a:prstGeom prst="rect">
            <a:avLst/>
          </a:prstGeom>
          <a:noFill/>
          <a:ln/>
        </p:spPr>
        <p:txBody>
          <a:bodyPr wrap="square" lIns="0" tIns="0" rIns="0" bIns="0" rtlCol="0" anchor="t"/>
          <a:lstStyle/>
          <a:p>
            <a:pPr marL="0" indent="0">
              <a:buNone/>
            </a:pPr>
            <a:r>
              <a:rPr lang="en-US" sz="1200" dirty="0">
                <a:solidFill>
                  <a:srgbClr val="44546A"/>
                </a:solidFill>
                <a:latin typeface="Calibri" pitchFamily="34" charset="0"/>
                <a:ea typeface="Calibri" pitchFamily="34" charset="-122"/>
                <a:cs typeface="Calibri" pitchFamily="34" charset="-120"/>
              </a:rPr>
              <a:t>Reset DNS to 192.168.1.1, flush cache, retest</a:t>
            </a:r>
            <a:endParaRPr lang="en-US" sz="1200" dirty="0"/>
          </a:p>
        </p:txBody>
      </p:sp>
      <p:sp>
        <p:nvSpPr>
          <p:cNvPr id="38" name="Shape 36"/>
          <p:cNvSpPr/>
          <p:nvPr/>
        </p:nvSpPr>
        <p:spPr>
          <a:xfrm>
            <a:off x="457200" y="4114800"/>
            <a:ext cx="8229600" cy="548640"/>
          </a:xfrm>
          <a:prstGeom prst="roundRect">
            <a:avLst>
              <a:gd name="adj" fmla="val 13333"/>
            </a:avLst>
          </a:prstGeom>
          <a:solidFill>
            <a:srgbClr val="1F3A5F"/>
          </a:solidFill>
          <a:ln w="12700">
            <a:solidFill>
              <a:srgbClr val="DCE8F4"/>
            </a:solidFill>
            <a:prstDash val="solid"/>
          </a:ln>
        </p:spPr>
        <p:txBody>
          <a:bodyPr/>
          <a:lstStyle/>
          <a:p>
            <a:endParaRPr lang="en-US"/>
          </a:p>
        </p:txBody>
      </p:sp>
      <p:sp>
        <p:nvSpPr>
          <p:cNvPr id="39" name="Text 37"/>
          <p:cNvSpPr txBox="1"/>
          <p:nvPr/>
        </p:nvSpPr>
        <p:spPr>
          <a:xfrm>
            <a:off x="640080" y="4114800"/>
            <a:ext cx="786384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Verified: gateway ping, 8.8.8.8 ping, nslookup, port 443 test, tracert (8 hops), curl HTTP 200 OK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992</Words>
  <Application>Microsoft Office PowerPoint</Application>
  <PresentationFormat>On-screen Show (16:9)</PresentationFormat>
  <Paragraphs>95</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samina parveen</cp:lastModifiedBy>
  <cp:revision>2</cp:revision>
  <dcterms:created xsi:type="dcterms:W3CDTF">2026-09-30T18:59:10Z</dcterms:created>
  <dcterms:modified xsi:type="dcterms:W3CDTF">2026-09-30T19:05:39Z</dcterms:modified>
</cp:coreProperties>
</file>